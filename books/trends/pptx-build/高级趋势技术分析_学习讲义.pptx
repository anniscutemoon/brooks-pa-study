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9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12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5" Type="http://schemas.openxmlformats.org/officeDocument/2006/relationships/slide" Target="slides/slide5.xml" /><Relationship Id="rId14" Type="http://schemas.openxmlformats.org/officeDocument/2006/relationships/tableStyles" Target="tableStyles.xml" /><Relationship Id="rId3" Type="http://schemas.openxmlformats.org/officeDocument/2006/relationships/slide" Target="slides/slide3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12" Type="http://schemas.openxmlformats.org/officeDocument/2006/relationships/notesMaster" Target="notesMasters/notesMaster1.xml" /><Relationship Id="rId11" Type="http://schemas.openxmlformats.org/officeDocument/2006/relationships/slide" Target="slides/slide11.xml" /><Relationship Id="rId13" Type="http://schemas.openxmlformats.org/officeDocument/2006/relationships/presProps" Target="presProps.xml" /><Relationship Id="rId10" Type="http://schemas.openxmlformats.org/officeDocument/2006/relationships/slide" Target="slides/slide10.xml" /><Relationship Id="rId1" Type="http://schemas.openxmlformats.org/officeDocument/2006/relationships/slide" Target="slides/slide1.xml" /><Relationship Id="rId15" Type="http://schemas.openxmlformats.org/officeDocument/2006/relationships/viewProps" Target="viewProps.xml" /><Relationship Id="rId9" Type="http://schemas.openxmlformats.org/officeDocument/2006/relationships/slide" Target="slides/slide9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padding: 0, background: '#FFFFFF' }}&gt;&#10;    &lt;Box style={{ height: 88, background: '#0E3F8C', justifyContent: 'center', paddingLeft: 48 }}&gt;&#10;        &lt;Text style={{ fontSize: 18, color: '#C9D8F2', letterSpacing: 3 }}&gt;价格行为四本书系统学习 · 第 1 本&lt;/Text&gt;&#10;    &lt;/Box&gt;&#10;    &lt;Box style={{ flex: 1, justifyContent: 'center', paddingLeft: 48, paddingRight: 48, gap: 16 }}&gt;&#10;        &lt;Text style={{ fontSize: 20, color: '#1E4FA8', fontWeight: 'bold', letterSpacing: 5 }}&gt;学习讲义（持续更新）&lt;/Text&gt;&#10;        &lt;Text style={{ fontSize: 64, color: '#1A2230', fontWeight: 'bold' }}&gt;高级趋势技术分析&lt;/Text&gt;&#10;        &lt;Text style={{ fontSize: 23, color: '#4A5568' }}&gt;Trading Price Action Trends — 价格行为交易系统之趋势分析&lt;/Text&gt;&#10;        &lt;Box style={{ width: 120, height: 6, background: '#1E4FA8', marginTop: 6 }} /&gt;&#10;        &lt;Text style={{ fontSize: 18, color: '#4A5568', lineHeight: 1.6 }}&gt;按原书章节顺序逐节精读 ｜ 每讲配动画与习题 ｜ 学完一节留一节成果&lt;/Text&gt;&#10;    &lt;/Box&gt;&#10;    &lt;Box style={{ height: 64, background: '#F7F9FC', flexDirection: 'row', alignItems: 'center', justifyContent: 'space-between', paddingLeft: 48, paddingRight: 48 }}&gt;&#10;        &lt;Text style={{ fontSize: 14, color: '#8B97A8' }}&gt;阿尔·布鲁克斯 著 ｜ 段呈伟 译 ｜ 山西人民出版社 2016.3&lt;/Text&gt;&#10;        &lt;Text style={{ fontSize: 14, color: '#8B97A8' }}&gt;个人学习笔记 · 非原书内容 ｜ 2026-10-14 起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8382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457200" y="314325"/>
            <a:ext cx="11734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225">
                <a:solidFill>
                  <a:srgbClr val="C9D8F2"/>
                </a:solidFill>
                <a:latin typeface="Microsoft YaHei"/>
                <a:ea typeface="Microsoft YaHei"/>
              </a:rPr>
              <a:t>价格行为四本书系统学习</a:t>
            </a:r>
            <a:r>
              <a:rPr lang="en-US" sz="1350" spc="225">
                <a:solidFill>
                  <a:srgbClr val="C9D8F2"/>
                </a:solidFill>
                <a:latin typeface="Microsoft YaHei"/>
                <a:ea typeface="Microsoft YaHei"/>
              </a:rPr>
              <a:t> · </a:t>
            </a:r>
            <a:r>
              <a:rPr lang="zh-CN" sz="1350" spc="225">
                <a:solidFill>
                  <a:srgbClr val="C9D8F2"/>
                </a:solidFill>
                <a:latin typeface="Microsoft YaHei"/>
                <a:ea typeface="Microsoft YaHei"/>
              </a:rPr>
              <a:t>第</a:t>
            </a:r>
            <a:r>
              <a:rPr lang="en-US" sz="1350" spc="225">
                <a:solidFill>
                  <a:srgbClr val="C9D8F2"/>
                </a:solidFill>
                <a:latin typeface="Microsoft YaHei"/>
                <a:ea typeface="Microsoft YaHei"/>
              </a:rPr>
              <a:t> 1 </a:t>
            </a:r>
            <a:r>
              <a:rPr lang="zh-CN" sz="1350" spc="225">
                <a:solidFill>
                  <a:srgbClr val="C9D8F2"/>
                </a:solidFill>
                <a:latin typeface="Microsoft YaHei"/>
                <a:ea typeface="Microsoft YaHei"/>
              </a:rPr>
              <a:t>本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457200" y="2400300"/>
            <a:ext cx="112776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 spc="375">
                <a:solidFill>
                  <a:srgbClr val="1E4FA8"/>
                </a:solidFill>
                <a:latin typeface="Microsoft YaHei"/>
                <a:ea typeface="Microsoft YaHei"/>
              </a:rPr>
              <a:t>学习讲义（持续更新）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457200" y="2781300"/>
            <a:ext cx="112776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800" b="1">
                <a:solidFill>
                  <a:srgbClr val="1A2230"/>
                </a:solidFill>
                <a:latin typeface="Microsoft YaHei"/>
                <a:ea typeface="Microsoft YaHei"/>
              </a:rPr>
              <a:t>高级趋势技术分析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457200" y="3667125"/>
            <a:ext cx="112776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>
                <a:solidFill>
                  <a:srgbClr val="4A5568"/>
                </a:solidFill>
                <a:latin typeface="Microsoft YaHei"/>
                <a:ea typeface="Microsoft YaHei"/>
              </a:rPr>
              <a:t>Trading Price Action Trends — </a:t>
            </a:r>
            <a:r>
              <a:rPr lang="zh-CN" sz="1725">
                <a:solidFill>
                  <a:srgbClr val="4A5568"/>
                </a:solidFill>
                <a:latin typeface="Microsoft YaHei"/>
                <a:ea typeface="Microsoft YaHei"/>
              </a:rPr>
              <a:t>价格行为交易系统之趋势分析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457200" y="4143375"/>
            <a:ext cx="1143000" cy="571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457200" y="4352925"/>
            <a:ext cx="11277600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按原书章节顺序逐节精读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每讲配动画与习题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｜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学完一节留一节成果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6248400"/>
            <a:ext cx="12192000" cy="6096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457200" y="6477000"/>
            <a:ext cx="33813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阿尔·布鲁克斯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著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｜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段呈伟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译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｜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山西人民出版社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2016.3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9086850" y="6477000"/>
            <a:ext cx="26479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个人学习笔记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非原书内容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｜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2026-10-14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起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56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这本书学完，你能做到什么&lt;/Text&gt;&#10;        &lt;Text style={{ fontSize: 14, color: '#B9CCED' }}&gt;全书目标 · 可观察动作&lt;/Text&gt;&#10;    &lt;/Box&gt;&#10;    &lt;Box style={{ flex: 1, flexDirection: 'row', padding: 28, gap: 24 }}&gt;&#10;        &lt;Box style={{ width: 300, background: '#0E3F8C', borderRadius: 10, padding: 28, justifyContent: 'center', gap: 14 }}&gt;&#10;            &lt;Text style={{ fontSize: 72, color: '#FFFFFF', fontWeight: 'bold' }}&gt;5&lt;/Text&gt;&#10;            &lt;Text style={{ fontSize: 22, color: '#E8EFF8', lineHeight: 1.5 }}&gt;项能独立完成的动作&lt;/Text&gt;&#10;            &lt;Text style={{ fontSize: 15, color: '#B9CCED', lineHeight: 1.6 }}&gt;不说&quot;理解、掌握&quot;这类没法检验的词，每一条都能在一张新图表上做出来。&lt;/Text&gt;&#10;        &lt;/Box&gt;&#10;        &lt;Box style={{ flex: 1, flexDirection: 'column', gap: 12 }}&gt;&#10;            {[&#10;                ['1', '说清市场只有趋势和区间两种状态，并且会互相转换'],&#10;                ['2', '在新图表上指出趋势K线、十字星、信号K线、入场K线、二次入场点'],&#10;                ['3', '画出趋势线与通道，并说明什么情况下它们失效'],&#10;                ['4', '说出判断趋势强弱的特征清单，并给一张图的趋势强度打分'],&#10;                ['5', '指认急速+通道、楼梯、趋势恢复等常见形态，说出每种形态接下来的大概率走法（概率，不是保证）'],&#10;            ].map((it, i) =&gt; (&#10;                &lt;Box key={i} style={{ flex: 1, flexDirection: 'row', alignItems: 'center', gap: 16, background: '#F7F9FC', borderRadius: 8, paddingLeft: 16, paddingRight: 16, border: '1px solid #E5E7EB' }}&gt;&#10;                    &lt;Box style={{ width: 34, height: 34, background: '#1E4FA8', borderRadius: 6, justifyContent: 'center', alignItems: 'center' }}&gt;&#10;                        &lt;Text style={{ fontSize: 18, color: '#FFFFFF', fontWeight: 'bold' }}&gt;{it[0]}&lt;/Text&gt;&#10;                    &lt;/Box&gt;&#10;                    &lt;Text style={{ flex: 1, fontSize: 17, color: '#1A2230', lineHeight: 1.45 }}&gt;{it[1]}&lt;/Text&gt;&#10;                &lt;/Box&gt;&#10;            ))}&#10;        &lt;/Box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02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这本书学完，你能做到什么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10487025" y="304800"/>
            <a:ext cx="13239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全书目标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可观察动作</a:t>
            </a:r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266700" y="1028700"/>
            <a:ext cx="2857500" cy="5181600"/>
          </a:xfrm>
          <a:prstGeom prst="roundRect">
            <a:avLst>
              <a:gd name="adj" fmla="val 333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533400" y="2466975"/>
            <a:ext cx="2324100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533400" y="3429000"/>
            <a:ext cx="23241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E8EFF8"/>
                </a:solidFill>
                <a:latin typeface="Microsoft YaHei"/>
                <a:ea typeface="Microsoft YaHei"/>
              </a:rPr>
              <a:t>项能独立完成的动作</a:t>
            </a:r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533400" y="3943350"/>
            <a:ext cx="23241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不说</a:t>
            </a:r>
            <a:r>
              <a:rPr lang="en-US" sz="1125">
                <a:solidFill>
                  <a:srgbClr val="B9CCED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理解、掌握</a:t>
            </a:r>
            <a:r>
              <a:rPr lang="en-US" sz="1125">
                <a:solidFill>
                  <a:srgbClr val="B9CCED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这类没法检验的词，每一条都能在一张新图表上做出来。</a:t>
            </a:r>
            <a:endParaRPr/>
          </a:p>
        </p:txBody>
      </p:sp>
      <p:sp>
        <p:nvSpPr>
          <p:cNvPr id="65" name=""/>
          <p:cNvSpPr/>
          <p:nvPr/>
        </p:nvSpPr>
        <p:spPr>
          <a:xfrm rot="0" flipH="0" flipV="0">
            <a:off x="3352800" y="1028700"/>
            <a:ext cx="8572500" cy="942975"/>
          </a:xfrm>
          <a:prstGeom prst="roundRect">
            <a:avLst>
              <a:gd name="adj" fmla="val 80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" name=""/>
          <p:cNvSpPr/>
          <p:nvPr/>
        </p:nvSpPr>
        <p:spPr>
          <a:xfrm rot="0" flipH="0" flipV="0">
            <a:off x="3505200" y="1343025"/>
            <a:ext cx="323850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3619500" y="140017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3981450" y="1362075"/>
            <a:ext cx="77914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说清市场只有趋势和区间两种状态，并且会互相转换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3352800" y="2085975"/>
            <a:ext cx="8572500" cy="942975"/>
          </a:xfrm>
          <a:prstGeom prst="roundRect">
            <a:avLst>
              <a:gd name="adj" fmla="val 80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3505200" y="2400300"/>
            <a:ext cx="323850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619500" y="2457450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3981450" y="2419350"/>
            <a:ext cx="77914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在新图表上指出趋势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K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线、十字星、信号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K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线、入场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K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线、二次入场点</a:t>
            </a:r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3352800" y="3143250"/>
            <a:ext cx="8572500" cy="9525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4" name=""/>
          <p:cNvSpPr/>
          <p:nvPr/>
        </p:nvSpPr>
        <p:spPr>
          <a:xfrm rot="0" flipH="0" flipV="0">
            <a:off x="3505200" y="3457575"/>
            <a:ext cx="323850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3619500" y="351472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3981450" y="3476625"/>
            <a:ext cx="77914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画出趋势线与通道，并说明什么情况下它们失效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3352800" y="4210050"/>
            <a:ext cx="8572500" cy="942975"/>
          </a:xfrm>
          <a:prstGeom prst="roundRect">
            <a:avLst>
              <a:gd name="adj" fmla="val 80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" name=""/>
          <p:cNvSpPr/>
          <p:nvPr/>
        </p:nvSpPr>
        <p:spPr>
          <a:xfrm rot="0" flipH="0" flipV="0">
            <a:off x="3505200" y="4524375"/>
            <a:ext cx="323850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619500" y="4581525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3981450" y="4543425"/>
            <a:ext cx="77914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说出判断趋势强弱的特征清单，并给一张图的趋势强度打分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3352800" y="5267325"/>
            <a:ext cx="8572500" cy="942975"/>
          </a:xfrm>
          <a:prstGeom prst="roundRect">
            <a:avLst>
              <a:gd name="adj" fmla="val 808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2" name=""/>
          <p:cNvSpPr/>
          <p:nvPr/>
        </p:nvSpPr>
        <p:spPr>
          <a:xfrm rot="0" flipH="0" flipV="0">
            <a:off x="3505200" y="5581650"/>
            <a:ext cx="323850" cy="323850"/>
          </a:xfrm>
          <a:prstGeom prst="roundRect">
            <a:avLst>
              <a:gd name="adj" fmla="val 1764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619500" y="5638800"/>
            <a:ext cx="104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981450" y="5600700"/>
            <a:ext cx="779145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指认急速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+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通道、楼梯、趋势恢复等常见形态，说出每种形态接下来的大概率走法（概率，不是保证）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02 / 11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87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全书地图：4 篇 26 章&lt;/Text&gt;&#10;        &lt;Text style={{ fontSize: 14, color: '#B9CCED' }}&gt;结构已核实 · 不跳章&lt;/Text&gt;&#10;    &lt;/Box&gt;&#10;    &lt;Box style={{ flex: 1, flexDirection: 'row', padding: 28, gap: 24 }}&gt;&#10;        &lt;Box style={{ flex: 1.5, flexDirection: 'column', gap: 12 }}&gt;&#10;            {[&#10;                ['第一篇', '价格行为（第 1-12 章）', 'K线语言与市场语法：信号K线、入场K线、二次入场点', true],&#10;                ['第二篇', '趋势线与通道（第 13-17 章）', '用线把市场结构框出来：趋势线、通道、摆动点', false],&#10;                ['第三篇', '趋势（第 18-20 章）', '把趋势当成可交易对象：强度清单、两段式行情', false],&#10;                ['第四篇', '常见趋势形态（第 21-26 章）', '六种反复出现的趋势日原型', false],&#10;            ].map((p, i) =&gt; (&#10;                &lt;Box key={i} style={{ flex: 1, flexDirection: 'row', alignItems: 'center', gap: 16, background: p[3] ? '#E8EFF8' : '#F7F9FC', border: p[3] ? '2px solid #1E4FA8' : '1px solid #E5E7EB', borderRadius: 8, paddingLeft: 18, paddingRight: 18 }}&gt;&#10;                    &lt;Text style={{ fontSize: 17, color: '#1E4FA8', fontWeight: 'bold', width: 62 }}&gt;{p[0]}&lt;/Text&gt;&#10;                    &lt;Box style={{ flex: 1 }}&gt;&#10;                        &lt;Text style={{ fontSize: 18, color: '#1A2230', fontWeight: 'bold' }}&gt;{p[1]}&lt;/Text&gt;&#10;                        &lt;Text style={{ fontSize: 14, color: '#4A5568' }}&gt;{p[2]}&lt;/Text&gt;&#10;                    &lt;/Box&gt;&#10;                &lt;/Box&gt;&#10;            ))}&#10;            &lt;Text style={{ fontSize: 14, color: '#D9534F' }}&gt;▲ 蓝框 = 当前学习区：第一篇之前还有「引言」（正在学）&lt;/Text&gt;&#10;        &lt;/Box&gt;&#10;        &lt;Box style={{ flex: 1, flexDirection: 'column', gap: 12 }}&gt;&#10;            &lt;Box style={{ background: '#F0F5FC', borderRadius: 8, padding: 18, flex: 1.2 }}&gt;&#10;                &lt;Text style={{ fontSize: 18, color: '#1E4FA8', fontWeight: 'bold' }}&gt;这份讲义怎么用&lt;/Text&gt;&#10;                &lt;Text style={{ fontSize: 15, color: '#1A2230', lineHeight: 1.7, marginTop: 8 }}&gt;每学一章，追加一组页面：学习目标 → 讲解 → 图解 → 随堂检查 → 术语大白话。复习时从后往前翻术语页最快。&lt;/Text&gt;&#10;            &lt;/Box&gt;&#10;            &lt;Box style={{ background: '#F7F9FC', border: '1px solid #E5E7EB', borderRadius: 8, padding: 18, flex: 1 }}&gt;&#10;                &lt;Text style={{ fontSize: 18, color: '#1E4FA8', fontWeight: 'bold' }}&gt;两条规矩&lt;/Text&gt;&#10;                &lt;Text style={{ fontSize: 15, color: '#1A2230', lineHeight: 1.7, marginTop: 8 }}&gt;按原书顺序学，不跳章。难度与重要程度星级是教学初评，随精读和你的作答修订，不是作者评级。&lt;/Text&gt;&#10;            &lt;/Box&gt;&#10;        &lt;/Box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03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9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2724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全书地图：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4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篇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26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章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0620375" y="30480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结构已核实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不跳章</a:t>
            </a:r>
            <a:endParaRPr/>
          </a:p>
        </p:txBody>
      </p:sp>
      <p:sp>
        <p:nvSpPr>
          <p:cNvPr id="92" name=""/>
          <p:cNvSpPr/>
          <p:nvPr/>
        </p:nvSpPr>
        <p:spPr>
          <a:xfrm rot="0" flipH="0" flipV="0">
            <a:off x="266700" y="1028700"/>
            <a:ext cx="6858000" cy="1143000"/>
          </a:xfrm>
          <a:prstGeom prst="roundRect">
            <a:avLst>
              <a:gd name="adj" fmla="val 6667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438150" y="1504950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第一篇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1181100" y="1419225"/>
            <a:ext cx="5772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价格行为（第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 1-12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章）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1181100" y="1628775"/>
            <a:ext cx="577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K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线语言与市场语法：信号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K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线、入场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K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线、二次入场点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266700" y="2286000"/>
            <a:ext cx="6858000" cy="1143000"/>
          </a:xfrm>
          <a:prstGeom prst="roundRect">
            <a:avLst>
              <a:gd name="adj" fmla="val 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38150" y="2762250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第二篇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1181100" y="2676525"/>
            <a:ext cx="5772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趋势线与通道（第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 13-17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章）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1181100" y="2886075"/>
            <a:ext cx="577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用线把市场结构框出来：趋势线、通道、摆动点</a:t>
            </a:r>
            <a:endParaRPr/>
          </a:p>
        </p:txBody>
      </p:sp>
      <p:sp>
        <p:nvSpPr>
          <p:cNvPr id="100" name=""/>
          <p:cNvSpPr/>
          <p:nvPr/>
        </p:nvSpPr>
        <p:spPr>
          <a:xfrm rot="0" flipH="0" flipV="0">
            <a:off x="266700" y="3543300"/>
            <a:ext cx="6858000" cy="1133475"/>
          </a:xfrm>
          <a:prstGeom prst="roundRect">
            <a:avLst>
              <a:gd name="adj" fmla="val 672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438150" y="4010025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第三篇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1181100" y="3924300"/>
            <a:ext cx="5772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趋势（第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 18-20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章）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1181100" y="4133850"/>
            <a:ext cx="577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把趋势当成可交易对象：强度清单、两段式行情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266700" y="4791075"/>
            <a:ext cx="6858000" cy="1143000"/>
          </a:xfrm>
          <a:prstGeom prst="roundRect">
            <a:avLst>
              <a:gd name="adj" fmla="val 6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438150" y="5267325"/>
            <a:ext cx="590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第四篇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1181100" y="5181600"/>
            <a:ext cx="5772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常见趋势形态（第</a:t>
            </a: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 21-26 </a:t>
            </a:r>
            <a:r>
              <a:rPr lang="zh-CN" sz="1350" b="1">
                <a:solidFill>
                  <a:srgbClr val="1A2230"/>
                </a:solidFill>
                <a:latin typeface="Microsoft YaHei"/>
                <a:ea typeface="Microsoft YaHei"/>
              </a:rPr>
              <a:t>章）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81100" y="5391150"/>
            <a:ext cx="5772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六种反复出现的趋势日原型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266700" y="6048375"/>
            <a:ext cx="6858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>▲ 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蓝框</a:t>
            </a: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> = 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当前学习区：第一篇之前还有「引言」（正在学）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7353300" y="1028700"/>
            <a:ext cx="4572000" cy="2657475"/>
          </a:xfrm>
          <a:prstGeom prst="roundRect">
            <a:avLst>
              <a:gd name="adj" fmla="val 2867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524750" y="1200150"/>
            <a:ext cx="422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这份讲义怎么用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7524750" y="1485900"/>
            <a:ext cx="42291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每学一章，追加一组页面：学习目标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讲解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图解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随堂检查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术语大白话。复习时从后往前翻术语页最快。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7353300" y="3800475"/>
            <a:ext cx="4572000" cy="2409825"/>
          </a:xfrm>
          <a:prstGeom prst="roundRect">
            <a:avLst>
              <a:gd name="adj" fmla="val 316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7524750" y="3971925"/>
            <a:ext cx="42291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两条规矩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7524750" y="4257675"/>
            <a:ext cx="42291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按原书顺序学，不跳章。难度与重要程度星级是教学初评，随精读和你的作答修订，不是作者评级。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03 / 11</a:t>
            </a:r>
            <a:endParaRPr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17" name="" descr="&lt;Slide style={{ padding: 0, background: '#0E3F8C' }}&gt;&#10;    &lt;Box style={{ flex: 1, flexDirection: 'row', alignItems: 'center', paddingLeft: 64, paddingRight: 64, gap: 48 }}&gt;&#10;        &lt;Text style={{ fontSize: 240, color: '#1E4FA8', fontWeight: 'bold' }}&gt;01&lt;/Text&gt;&#10;        &lt;Box style={{ gap: 14 }}&gt;&#10;            &lt;Text style={{ fontSize: 18, color: '#B9CCED', letterSpacing: 3 }}&gt;引言 · 第 1 讲&lt;/Text&gt;&#10;            &lt;Text style={{ fontSize: 44, color: '#FFFFFF', fontWeight: 'bold' }}&gt;一根 K 线是怎么长出来的&lt;/Text&gt;&#10;            &lt;Box style={{ flexDirection: 'row', gap: 12, marginTop: 6 }}&gt;&#10;                &lt;Box style={{ background: '#FFC107', borderRadius: 6, paddingLeft: 12, paddingRight: 12, paddingTop: 4, paddingBottom: 4 }}&gt;&#10;                    &lt;Text style={{ fontSize: 15, color: '#1A2230', fontWeight: 'bold' }}&gt;零基础补课 · 补充内容&lt;/Text&gt;&#10;                &lt;/Box&gt;&#10;                &lt;Box style={{ border: '1px solid #3D7BD9', borderRadius: 6, paddingLeft: 12, paddingRight: 12, paddingTop: 4, paddingBottom: 4 }}&gt;&#10;                    &lt;Text style={{ fontSize: 15, color: '#C9D8F2' }}&gt;讲完立即回到引言&lt;/Text&gt;&#10;                &lt;/Box&gt;&#10;            &lt;/Box&gt;&#10;            &lt;Text style={{ fontSize: 15, color: '#B9CCED', lineHeight: 1.6, marginTop: 10 }}&gt;原书《高级趋势技术分析》引言（印刷页 1 起 / PDF 第 8 页起）默认读者已经会读 K 线，本讲是前置补课。&lt;/Text&gt;&#10;        &lt;/Box&gt;&#10;    &lt;/Box&gt;&#10;    &lt;Box style={{ height: 48, flexDirection: 'row', alignItems: 'center', justifyContent: 'space-between', paddingLeft: 64, paddingRight: 64 }}&gt;&#10;        &lt;Text style={{ fontSize: 14, color: '#B9CCED' }}&gt;Brooks 价格行为学习 · 趋势卷&lt;/Text&gt;&#10;        &lt;Text style={{ fontSize: 14, color: '#B9CCED' }}&gt;04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609600" y="1828800"/>
            <a:ext cx="2543175" cy="2743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0" b="1">
                <a:solidFill>
                  <a:srgbClr val="1E4F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3609975" y="2305050"/>
            <a:ext cx="6800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225">
                <a:solidFill>
                  <a:srgbClr val="B9CCED"/>
                </a:solidFill>
                <a:latin typeface="Microsoft YaHei"/>
                <a:ea typeface="Microsoft YaHei"/>
              </a:rPr>
              <a:t>引言</a:t>
            </a:r>
            <a:r>
              <a:rPr lang="en-US" sz="1350" spc="225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350" spc="225">
                <a:solidFill>
                  <a:srgbClr val="B9CCED"/>
                </a:solidFill>
                <a:latin typeface="Microsoft YaHei"/>
                <a:ea typeface="Microsoft YaHei"/>
              </a:rPr>
              <a:t>第</a:t>
            </a:r>
            <a:r>
              <a:rPr lang="en-US" sz="1350" spc="225">
                <a:solidFill>
                  <a:srgbClr val="B9CCED"/>
                </a:solidFill>
                <a:latin typeface="Microsoft YaHei"/>
                <a:ea typeface="Microsoft YaHei"/>
              </a:rPr>
              <a:t> 1 </a:t>
            </a:r>
            <a:r>
              <a:rPr lang="zh-CN" sz="1350" spc="225">
                <a:solidFill>
                  <a:srgbClr val="B9CCED"/>
                </a:solidFill>
                <a:latin typeface="Microsoft YaHei"/>
                <a:ea typeface="Microsoft YaHei"/>
              </a:rPr>
              <a:t>讲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3609975" y="2647950"/>
            <a:ext cx="6800850" cy="5048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300" b="1">
                <a:solidFill>
                  <a:srgbClr val="FFFFFF"/>
                </a:solidFill>
                <a:latin typeface="Microsoft YaHei"/>
                <a:ea typeface="Microsoft YaHei"/>
              </a:rPr>
              <a:t>一根</a:t>
            </a:r>
            <a:r>
              <a:rPr lang="en-US" sz="3300" b="1">
                <a:solidFill>
                  <a:srgbClr val="FFFFFF"/>
                </a:solidFill>
                <a:latin typeface="Microsoft YaHei"/>
                <a:ea typeface="Microsoft YaHei"/>
              </a:rPr>
              <a:t> K </a:t>
            </a:r>
            <a:r>
              <a:rPr lang="zh-CN" sz="3300" b="1">
                <a:solidFill>
                  <a:srgbClr val="FFFFFF"/>
                </a:solidFill>
                <a:latin typeface="Microsoft YaHei"/>
                <a:ea typeface="Microsoft YaHei"/>
              </a:rPr>
              <a:t>线是怎么长出来的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609975" y="3343275"/>
            <a:ext cx="1647825" cy="247650"/>
          </a:xfrm>
          <a:prstGeom prst="roundRect">
            <a:avLst>
              <a:gd name="adj" fmla="val 23077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724275" y="3381375"/>
            <a:ext cx="1419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1A2230"/>
                </a:solidFill>
                <a:latin typeface="Microsoft YaHei"/>
                <a:ea typeface="Microsoft YaHei"/>
              </a:rPr>
              <a:t>零基础补课</a:t>
            </a: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 · </a:t>
            </a:r>
            <a:r>
              <a:rPr lang="zh-CN" sz="1125" b="1">
                <a:solidFill>
                  <a:srgbClr val="1A2230"/>
                </a:solidFill>
                <a:latin typeface="Microsoft YaHei"/>
                <a:ea typeface="Microsoft YaHei"/>
              </a:rPr>
              <a:t>补充内容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5372100" y="3343275"/>
            <a:ext cx="1371600" cy="247650"/>
          </a:xfrm>
          <a:prstGeom prst="roundRect">
            <a:avLst>
              <a:gd name="adj" fmla="val 23077"/>
            </a:avLst>
          </a:prstGeom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5486400" y="3381375"/>
            <a:ext cx="1143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2"/>
                </a:solidFill>
                <a:latin typeface="Microsoft YaHei"/>
                <a:ea typeface="Microsoft YaHei"/>
              </a:rPr>
              <a:t>讲完立即回到引言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3609975" y="3819525"/>
            <a:ext cx="6800850" cy="2762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原书《高级趋势技术分析》引言（印刷页</a:t>
            </a:r>
            <a:r>
              <a:rPr lang="en-US" sz="1125">
                <a:solidFill>
                  <a:srgbClr val="B9CCED"/>
                </a:solidFill>
                <a:latin typeface="Microsoft YaHei"/>
                <a:ea typeface="Microsoft YaHei"/>
              </a:rPr>
              <a:t> 1 </a:t>
            </a: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起</a:t>
            </a:r>
            <a:r>
              <a:rPr lang="en-US" sz="1125">
                <a:solidFill>
                  <a:srgbClr val="B9CCED"/>
                </a:solidFill>
                <a:latin typeface="Microsoft YaHei"/>
                <a:ea typeface="Microsoft YaHei"/>
              </a:rPr>
              <a:t> / PDF </a:t>
            </a: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第</a:t>
            </a:r>
            <a:r>
              <a:rPr lang="en-US" sz="1125">
                <a:solidFill>
                  <a:srgbClr val="B9CCED"/>
                </a:solidFill>
                <a:latin typeface="Microsoft YaHei"/>
                <a:ea typeface="Microsoft YaHei"/>
              </a:rPr>
              <a:t> 8 </a:t>
            </a: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页起）默认读者已经会读</a:t>
            </a:r>
            <a:r>
              <a:rPr lang="en-US" sz="1125">
                <a:solidFill>
                  <a:srgbClr val="B9CCED"/>
                </a:solidFill>
                <a:latin typeface="Microsoft YaHei"/>
                <a:ea typeface="Microsoft YaHei"/>
              </a:rPr>
              <a:t> K </a:t>
            </a: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线，本讲是前置补课。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09600" y="65532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11182350" y="65532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04 / 11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29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本讲学习目标&lt;/Text&gt;&#10;        &lt;Text style={{ fontSize: 14, color: '#B9CCED' }}&gt;引言 · 第 1 讲 · 零基础补课&lt;/Text&gt;&#10;    &lt;/Box&gt;&#10;    &lt;Box style={{ flex: 1, padding: 28, flexDirection: 'column', gap: 18 }}&gt;&#10;        &lt;Box style={{ flex: 1, flexDirection: 'row', gap: 18 }}&gt;&#10;            {[&#10;                ['学完能做', '给出任意一根 K 线的四个数（开/收/高/低），你能说出它是什么颜色、实体从哪到哪、这段时间买方卖方谁赢了。', '#1E4FA8'],&#10;                ['本讲重点', '四个数字各对应蜡烛的哪一段：实体是开和收，影线是最高最低。', '#1E4FA8'],&#10;            ].map((c, i) =&gt; (&#10;                &lt;Box key={i} style={{ flex: 1, background: '#F7F9FC', border: '1px solid #E5E7EB', borderRadius: 10, padding: 24, justifyContent: 'center', gap: 12 }}&gt;&#10;                    &lt;Box style={{ background: c[2], borderRadius: 6, paddingLeft: 12, paddingRight: 12, paddingTop: 4, paddingBottom: 4, alignSelf: 'flex-start' }}&gt;&#10;                        &lt;Text style={{ fontSize: 16, color: '#FFFFFF', fontWeight: 'bold' }}&gt;{c[0]}&lt;/Text&gt;&#10;                    &lt;/Box&gt;&#10;                    &lt;Text style={{ fontSize: 19, color: '#1A2230', lineHeight: 1.6 }}&gt;{c[1]}&lt;/Text&gt;&#10;                &lt;/Box&gt;&#10;            ))}&#10;        &lt;/Box&gt;&#10;        &lt;Box style={{ flex: 1, flexDirection: 'row', gap: 18 }}&gt;&#10;            {[&#10;                ['本讲难点', '影线和实体的区别——&quot;到过&quot;和&quot;站住&quot;是两回事。价格冲出去又缩回来的那段，只留一根细线。', '#D9534F'],&#10;                ['预计时间', '约 15 分钟：看一遍动画（8 步），答两道随堂检查题。允许说&quot;不确定&quot;，说清哪里不确定也给分。', '#1E4FA8'],&#10;            ].map((c, i) =&gt; (&#10;                &lt;Box key={i} style={{ flex: 1, background: '#F7F9FC', border: '1px solid #E5E7EB', borderRadius: 10, padding: 24, justifyContent: 'center', gap: 12 }}&gt;&#10;                    &lt;Box style={{ background: c[2], borderRadius: 6, paddingLeft: 12, paddingRight: 12, paddingTop: 4, paddingBottom: 4, alignSelf: 'flex-start' }}&gt;&#10;                        &lt;Text style={{ fontSize: 16, color: '#FFFFFF', fontWeight: 'bold' }}&gt;{c[0]}&lt;/Text&gt;&#10;                    &lt;/Box&gt;&#10;                    &lt;Text style={{ fontSize: 19, color: '#1A2230', lineHeight: 1.6 }}&gt;{c[1]}&lt;/Text&gt;&#10;                &lt;/Box&gt;&#10;            ))}&#10;        &lt;/Box&gt;&#10;        &lt;Text style={{ fontSize: 14, color: '#8B97A8' }}&gt;先修知识：无。这是全课程第一节课，不设入门门槛。&lt;/Text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05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1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1714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本讲学习目标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0220325" y="304800"/>
            <a:ext cx="1590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引言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第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1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讲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零基础补课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266700" y="1028700"/>
            <a:ext cx="5743575" cy="2343150"/>
          </a:xfrm>
          <a:prstGeom prst="roundRect">
            <a:avLst>
              <a:gd name="adj" fmla="val 40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495300" y="1666875"/>
            <a:ext cx="838200" cy="266700"/>
          </a:xfrm>
          <a:prstGeom prst="roundRect">
            <a:avLst>
              <a:gd name="adj" fmla="val 214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09600" y="1704975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学完能做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495300" y="2047875"/>
            <a:ext cx="52863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给出任意一根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K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线的四个数（开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收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高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/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低），你能说出它是什么颜色、实体从哪到哪、这段时间买方卖方谁赢了。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6181725" y="1028700"/>
            <a:ext cx="5743575" cy="2343150"/>
          </a:xfrm>
          <a:prstGeom prst="roundRect">
            <a:avLst>
              <a:gd name="adj" fmla="val 406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9" name=""/>
          <p:cNvSpPr/>
          <p:nvPr/>
        </p:nvSpPr>
        <p:spPr>
          <a:xfrm rot="0" flipH="0" flipV="0">
            <a:off x="6410325" y="1838325"/>
            <a:ext cx="838200" cy="266700"/>
          </a:xfrm>
          <a:prstGeom prst="roundRect">
            <a:avLst>
              <a:gd name="adj" fmla="val 214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6524625" y="1876425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本讲重点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410325" y="2219325"/>
            <a:ext cx="5286375" cy="352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四个数字各对应蜡烛的哪一段：实体是开和收，影线是最高最低。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266700" y="3543300"/>
            <a:ext cx="5743575" cy="2333625"/>
          </a:xfrm>
          <a:prstGeom prst="roundRect">
            <a:avLst>
              <a:gd name="adj" fmla="val 40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3" name=""/>
          <p:cNvSpPr/>
          <p:nvPr/>
        </p:nvSpPr>
        <p:spPr>
          <a:xfrm rot="0" flipH="0" flipV="0">
            <a:off x="495300" y="4171950"/>
            <a:ext cx="838200" cy="266700"/>
          </a:xfrm>
          <a:prstGeom prst="roundRect">
            <a:avLst>
              <a:gd name="adj" fmla="val 21429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609600" y="421005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本讲难点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95300" y="4552950"/>
            <a:ext cx="52863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影线和实体的区别——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到过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站住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是两回事。价格冲出去又缩回来的那段，只留一根细线。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6181725" y="3543300"/>
            <a:ext cx="5743575" cy="2333625"/>
          </a:xfrm>
          <a:prstGeom prst="roundRect">
            <a:avLst>
              <a:gd name="adj" fmla="val 40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7" name=""/>
          <p:cNvSpPr/>
          <p:nvPr/>
        </p:nvSpPr>
        <p:spPr>
          <a:xfrm rot="0" flipH="0" flipV="0">
            <a:off x="6410325" y="4171950"/>
            <a:ext cx="838200" cy="266700"/>
          </a:xfrm>
          <a:prstGeom prst="roundRect">
            <a:avLst>
              <a:gd name="adj" fmla="val 214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6524625" y="4210050"/>
            <a:ext cx="609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预计时间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410325" y="4552950"/>
            <a:ext cx="5286375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约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 15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分钟：看一遍动画（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8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步），答两道随堂检查题。允许说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不确定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，说清哪里不确定也给分。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266700" y="6048375"/>
            <a:ext cx="11658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先修知识：无。这是全课程第一节课，不设入门门槛。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05 / 11</a:t>
            </a:r>
            <a:endParaRPr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53" name="" descr="&lt;Slide style={{ padding: 0, background: '#F0F5FC' }}&gt;&#10;    &lt;Box style={{ flex: 1, justifyContent: 'center', alignItems: 'center', gap: 26, padding: 48 }}&gt;&#10;        &lt;Text style={{ fontSize: 22, color: '#1E4FA8', letterSpacing: 6 }}&gt;本讲唯一要记住的一句话&lt;/Text&gt;&#10;        &lt;Text style={{ fontSize: 54, color: '#1A2230', fontWeight: 'bold', textAlign: 'center', lineHeight: 1.4 }}&gt;一根 K 线 = 一场比赛的&lt;span style={{ color: '#1E4FA8' }}&gt;技术统计&lt;/span&gt;&lt;/Text&gt;&#10;        &lt;Box style={{ width: 100, height: 5, background: '#1E4FA8' }} /&gt;&#10;        &lt;Text style={{ fontSize: 22, color: '#4A5568', textAlign: 'center', lineHeight: 1.7 }}&gt;从哪开始（开） · 到哪结束（收） · 最疯到过哪（高） · 最惨到过哪（低）&lt;br/&gt;中间怎么拉锯，裁判不管 —— &lt;span style={{ color: '#D9534F', fontWeight: 'bold' }}&gt;到过不算数，停住才算数&lt;/span&gt;&lt;/Text&gt;&#10;    &lt;/Box&gt;&#10;    &lt;Box style={{ height: 48, flexDirection: 'row', alignItems: 'center', justifyContent: 'space-between', paddingLeft: 48, paddingRight: 48 }}&gt;&#10;        &lt;Text style={{ fontSize: 14, color: '#8B97A8' }}&gt;Brooks 价格行为学习 · 趋势卷&lt;/Text&gt;&#10;        &lt;Text style={{ fontSize: 14, color: '#1E4FA8' }}&gt;06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4629150" y="1819275"/>
            <a:ext cx="29337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spc="450">
                <a:solidFill>
                  <a:srgbClr val="1E4FA8"/>
                </a:solidFill>
                <a:latin typeface="Microsoft YaHei"/>
                <a:ea typeface="Microsoft YaHei"/>
              </a:rPr>
              <a:t>本讲唯一要记住的一句话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2390775" y="2324100"/>
            <a:ext cx="7419975" cy="866775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zh-CN" sz="4050" b="1">
                <a:solidFill>
                  <a:srgbClr val="1A2230"/>
                </a:solidFill>
                <a:latin typeface="Microsoft YaHei"/>
                <a:ea typeface="Microsoft YaHei"/>
              </a:rPr>
              <a:t>一根</a:t>
            </a:r>
            <a:r>
              <a:rPr lang="en-US" sz="4050" b="1">
                <a:solidFill>
                  <a:srgbClr val="1A2230"/>
                </a:solidFill>
                <a:latin typeface="Microsoft YaHei"/>
                <a:ea typeface="Microsoft YaHei"/>
              </a:rPr>
              <a:t> K </a:t>
            </a:r>
            <a:r>
              <a:rPr lang="zh-CN" sz="4050" b="1">
                <a:solidFill>
                  <a:srgbClr val="1A2230"/>
                </a:solidFill>
                <a:latin typeface="Microsoft YaHei"/>
                <a:ea typeface="Microsoft YaHei"/>
              </a:rPr>
              <a:t>线</a:t>
            </a:r>
            <a:r>
              <a:rPr lang="en-US" sz="4050" b="1">
                <a:solidFill>
                  <a:srgbClr val="1A2230"/>
                </a:solidFill>
                <a:latin typeface="Microsoft YaHei"/>
                <a:ea typeface="Microsoft YaHei"/>
              </a:rPr>
              <a:t> = </a:t>
            </a:r>
            <a:r>
              <a:rPr lang="zh-CN" sz="4050" b="1">
                <a:solidFill>
                  <a:srgbClr val="1A2230"/>
                </a:solidFill>
                <a:latin typeface="Microsoft YaHei"/>
                <a:ea typeface="Microsoft YaHei"/>
              </a:rPr>
              <a:t>一场比赛的</a:t>
            </a:r>
            <a:r>
              <a:rPr lang="zh-CN" sz="4050" b="1">
                <a:solidFill>
                  <a:srgbClr val="1E4FA8"/>
                </a:solidFill>
                <a:latin typeface="Microsoft YaHei"/>
                <a:ea typeface="Microsoft YaHei"/>
              </a:rPr>
              <a:t>技术统计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5619750" y="3438525"/>
            <a:ext cx="952500" cy="4762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2676525" y="3733800"/>
            <a:ext cx="6848475" cy="857250"/>
          </a:xfrm>
          <a:prstGeom prst="rect"/>
        </p:spPr>
        <p:txBody>
          <a:bodyPr wrap="none" lIns="0" tIns="0" rIns="0" bIns="0"/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从哪开始（开）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到哪结束（收）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最疯到过哪（高）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最惨到过哪（低）</a:t>
            </a:r>
            <a:endParaRPr/>
          </a:p>
          <a:p>
            <a:pPr algn="ctr">
              <a:lnSpc>
                <a:spcPct val="170000"/>
              </a:lnSpc>
            </a:pPr>
            <a:r>
              <a:rPr lang="zh-CN" sz="1650">
                <a:solidFill>
                  <a:srgbClr val="4A5568"/>
                </a:solidFill>
                <a:latin typeface="Microsoft YaHei"/>
                <a:ea typeface="Microsoft YaHei"/>
              </a:rPr>
              <a:t>中间怎么拉锯，裁判不管</a:t>
            </a:r>
            <a:r>
              <a:rPr lang="en-US" sz="1650">
                <a:solidFill>
                  <a:srgbClr val="4A5568"/>
                </a:solidFill>
                <a:latin typeface="Microsoft YaHei"/>
                <a:ea typeface="Microsoft YaHei"/>
              </a:rPr>
              <a:t> —— </a:t>
            </a:r>
            <a:r>
              <a:rPr lang="zh-CN" sz="1650" b="1">
                <a:solidFill>
                  <a:srgbClr val="D9534F"/>
                </a:solidFill>
                <a:latin typeface="Microsoft YaHei"/>
                <a:ea typeface="Microsoft YaHei"/>
              </a:rPr>
              <a:t>到过不算数，停住才算数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457200" y="65532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11334750" y="65532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06 / 11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61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阳线解剖：开 100 · 收 105 · 高 106 · 低 98&lt;/Text&gt;&#10;        &lt;Text style={{ fontSize: 14, color: '#B9CCED' }}&gt;自编示意 · 数值虚构&lt;/Text&gt;&#10;    &lt;/Box&gt;&#10;    &lt;Box style={{ flex: 1, flexDirection: 'row', padding: 24, gap: 24 }}&gt;&#10;        &lt;Box style={{ width: 560, background: '#F7F9FC', border: '1px solid #E5E7EB', borderRadius: 10, justifyContent: 'center', alignItems: 'center', padding: 12 }}&gt;&#10;            &lt;svg width={520} height={480} viewBox=&quot;0 0 520 480&quot;&gt;&#10;                &lt;g stroke=&quot;#D6DCE5&quot; strokeWidth=&quot;1&quot;&gt;&#10;                    &lt;line x1=&quot;60&quot; y1=&quot;33&quot; x2=&quot;480&quot; y2=&quot;33&quot; /&gt;&lt;line x1=&quot;60&quot; y1=&quot;100&quot; x2=&quot;480&quot; y2=&quot;100&quot; /&gt;&#10;                    &lt;line x1=&quot;60&quot; y1=&quot;167&quot; x2=&quot;480&quot; y2=&quot;167&quot; /&gt;&lt;line x1=&quot;60&quot; y1=&quot;233&quot; x2=&quot;480&quot; y2=&quot;233&quot; /&gt;&#10;                    &lt;line x1=&quot;60&quot; y1=&quot;267&quot; x2=&quot;480&quot; y2=&quot;267&quot; /&gt;&lt;line x1=&quot;60&quot; y1=&quot;333&quot; x2=&quot;480&quot; y2=&quot;333&quot; /&gt;&#10;                    &lt;line x1=&quot;60&quot; y1=&quot;400&quot; x2=&quot;480&quot; y2=&quot;400&quot; /&gt;&#10;                &lt;/g&gt;&#10;                &lt;g fill=&quot;#8B97A8&quot; fontSize=&quot;12&quot; textAnchor=&quot;end&quot;&gt;&#10;                    &lt;text x=&quot;52&quot; y=&quot;37&quot;&gt;107&lt;/text&gt;&lt;text x=&quot;52&quot; y=&quot;104&quot;&gt;105&lt;/text&gt;&lt;text x=&quot;52&quot; y=&quot;171&quot;&gt;103&lt;/text&gt;&#10;                    &lt;text x=&quot;52&quot; y=&quot;237&quot;&gt;101&lt;/text&gt;&lt;text x=&quot;52&quot; y=&quot;271&quot;&gt;100&lt;/text&gt;&lt;text x=&quot;52&quot; y=&quot;337&quot;&gt;98&lt;/text&gt;&#10;                    &lt;text x=&quot;52&quot; y=&quot;404&quot;&gt;96&lt;/text&gt;&#10;                &lt;/g&gt;&#10;                &lt;line x1=&quot;260&quot; y1=&quot;67&quot; x2=&quot;260&quot; y2=&quot;100&quot; stroke=&quot;#D43A31&quot; strokeWidth=&quot;4&quot; /&gt;&#10;                &lt;rect x=&quot;220&quot; y=&quot;100&quot; width=&quot;80&quot; height=&quot;167&quot; fill=&quot;#D43A31&quot; /&gt;&#10;                &lt;line x1=&quot;260&quot; y1=&quot;267&quot; x2=&quot;260&quot; y2=&quot;333&quot; stroke=&quot;#D43A31&quot; strokeWidth=&quot;4&quot; /&gt;&#10;                &lt;text x=&quot;312&quot; y=&quot;71&quot; fill=&quot;#4A5568&quot; fontSize=&quot;14&quot;&gt;最高 106（到过，没站住）&lt;/text&gt;&#10;                &lt;text x=&quot;312&quot; y=&quot;106&quot; fill=&quot;#1A2230&quot; fontSize=&quot;14&quot; fontWeight=&quot;bold&quot;&gt;收盘 105&lt;/text&gt;&#10;                &lt;text x=&quot;312&quot; y=&quot;184&quot; fill=&quot;#D43A31&quot; fontSize=&quot;14&quot; fontWeight=&quot;bold&quot;&gt;实体：开 100 到 收 105&lt;/text&gt;&#10;                &lt;text x=&quot;312&quot; y=&quot;271&quot; fill=&quot;#1A2230&quot; fontSize=&quot;14&quot; fontWeight=&quot;bold&quot;&gt;开盘 100&lt;/text&gt;&#10;                &lt;text x=&quot;312&quot; y=&quot;337&quot; fill=&quot;#4A5568&quot; fontSize=&quot;14&quot;&gt;最低 98（被砸下去，被接住）&lt;/text&gt;&#10;                &lt;text x=&quot;100&quot; y=&quot;450&quot; fill=&quot;#8B97A8&quot; fontSize=&quot;13&quot;&gt;红色 = 阳线：收高于开，这 5 分钟买方赢了&lt;/text&gt;&#10;            &lt;/svg&gt;&#10;        &lt;/Box&gt;&#10;        &lt;Box style={{ flex: 1, flexDirection: 'column', gap: 12 }}&gt;&#10;            {[&#10;                ['1', '5 分钟开始，第一笔成交 100 —— 开盘价'],&#10;                ['2', '有人着急卖，价格被砸到 98，有人接住 —— 最低价'],&#10;                ['3', '买方反攻，一口气推到 106，推不动了 —— 最高价'],&#10;                ['4', '时间到，最后停在 105 —— 收盘价'],&#10;            ].map((s, i) =&gt; (&#10;                &lt;Box key={i} style={{ flexDirection: 'row', alignItems: 'center', gap: 14, background: '#F7F9FC', border: '1px solid #E5E7EB', borderRadius: 8, padding: 14 }}&gt;&#10;                    &lt;Box style={{ width: 30, height: 30, background: '#1E4FA8', borderRadius: 6, justifyContent: 'center', alignItems: 'center' }}&gt;&#10;                        &lt;Text style={{ fontSize: 16, color: '#FFFFFF', fontWeight: 'bold' }}&gt;{s[0]}&lt;/Text&gt;&#10;                    &lt;/Box&gt;&#10;                    &lt;Text style={{ flex: 1, fontSize: 17, color: '#1A2230', lineHeight: 1.45 }}&gt;{s[1]}&lt;/Text&gt;&#10;                &lt;/Box&gt;&#10;            ))}&#10;            &lt;Box style={{ flex: 1, background: '#E8EFF8', borderRadius: 8, padding: 18, justifyContent: 'center' }}&gt;&#10;                &lt;Text style={{ fontSize: 19, color: '#0E3F8C', fontWeight: 'bold', lineHeight: 1.6 }}&gt;这根 K 线只记 4 个数。粗块叫实体（站住的部分），细线叫影线（到过、没站住的部分）。&lt;/Text&gt;&#10;            &lt;/Box&gt;&#10;        &lt;/Box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07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5400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阳线解剖：开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100 ·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收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105 ·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高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106 ·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低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98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10620375" y="30480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自编示意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数值虚构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228600" y="990600"/>
            <a:ext cx="5334000" cy="5257800"/>
          </a:xfrm>
          <a:prstGeom prst="roundRect">
            <a:avLst>
              <a:gd name="adj" fmla="val 181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1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19100" y="1333500"/>
            <a:ext cx="4953000" cy="4572000"/>
          </a:xfrm>
          <a:prstGeom prst="rect">
            <a:avLst/>
          </a:prstGeom>
          <a:ln/>
        </p:spPr>
      </p:pic>
      <p:sp>
        <p:nvSpPr>
          <p:cNvPr id="168" name=""/>
          <p:cNvSpPr/>
          <p:nvPr/>
        </p:nvSpPr>
        <p:spPr>
          <a:xfrm rot="0" flipH="0" flipV="0">
            <a:off x="5791200" y="990600"/>
            <a:ext cx="6172200" cy="552450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5924550" y="112395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029325" y="1171575"/>
            <a:ext cx="85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6343650" y="1123950"/>
            <a:ext cx="548640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5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分钟开始，第一笔成交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100 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开盘价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5791200" y="1657350"/>
            <a:ext cx="6172200" cy="552450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3" name=""/>
          <p:cNvSpPr/>
          <p:nvPr/>
        </p:nvSpPr>
        <p:spPr>
          <a:xfrm rot="0" flipH="0" flipV="0">
            <a:off x="5924550" y="179070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6029325" y="1838325"/>
            <a:ext cx="85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6343650" y="1790700"/>
            <a:ext cx="548640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有人着急卖，价格被砸到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98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，有人接住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最低价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5791200" y="2324100"/>
            <a:ext cx="6172200" cy="552450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77" name=""/>
          <p:cNvSpPr/>
          <p:nvPr/>
        </p:nvSpPr>
        <p:spPr>
          <a:xfrm rot="0" flipH="0" flipV="0">
            <a:off x="5924550" y="245745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029325" y="2505075"/>
            <a:ext cx="85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343650" y="2457450"/>
            <a:ext cx="548640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买方反攻，一口气推到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106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，推不动了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最高价</a:t>
            </a:r>
            <a:endParaRPr/>
          </a:p>
        </p:txBody>
      </p:sp>
      <p:sp>
        <p:nvSpPr>
          <p:cNvPr id="180" name=""/>
          <p:cNvSpPr/>
          <p:nvPr/>
        </p:nvSpPr>
        <p:spPr>
          <a:xfrm rot="0" flipH="0" flipV="0">
            <a:off x="5791200" y="2990850"/>
            <a:ext cx="6172200" cy="552450"/>
          </a:xfrm>
          <a:prstGeom prst="roundRect">
            <a:avLst>
              <a:gd name="adj" fmla="val 1379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81" name=""/>
          <p:cNvSpPr/>
          <p:nvPr/>
        </p:nvSpPr>
        <p:spPr>
          <a:xfrm rot="0" flipH="0" flipV="0">
            <a:off x="5924550" y="3124200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029325" y="3171825"/>
            <a:ext cx="85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343650" y="3124200"/>
            <a:ext cx="5486400" cy="2857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时间到，最后停在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105 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收盘价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5791200" y="3657600"/>
            <a:ext cx="6172200" cy="2590800"/>
          </a:xfrm>
          <a:prstGeom prst="roundRect">
            <a:avLst>
              <a:gd name="adj" fmla="val 294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962650" y="4610100"/>
            <a:ext cx="5829300" cy="6953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这根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 K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线只记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 4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个数。粗块叫实体（站住的部分），细线叫影线（到过、没站住的部分）。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07 / 11</a:t>
            </a:r>
            <a:endParaRPr/>
          </a:p>
        </p:txBody>
      </p:sp>
    </p:spTree>
  </p:cSld>
</p:sld>
</file>

<file path=ppt/slides/slide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88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阴线对照：影线 vs 实体&lt;/Text&gt;&#10;        &lt;Text style={{ fontSize: 14, color: '#B9CCED' }}&gt;自编示意 · 数值虚构&lt;/Text&gt;&#10;    &lt;/Box&gt;&#10;    &lt;Box style={{ flex: 1, flexDirection: 'row', padding: 24, gap: 24 }}&gt;&#10;        &lt;Box style={{ flex: 1.4, flexDirection: 'column', gap: 12 }}&gt;&#10;            &lt;Box style={{ background: '#F7F9FC', border: '1px solid #E5E7EB', borderRadius: 8, padding: 18, flex: 1 }}&gt;&#10;                &lt;Text style={{ fontSize: 19, color: '#1E4FA8', fontWeight: 'bold' }}&gt;实体 = 站住的部分&lt;/Text&gt;&#10;                &lt;Text style={{ fontSize: 17, color: '#1A2230', lineHeight: 1.6, marginTop: 6 }}&gt;从开盘价到收盘价这一段。时间结束时价格停在这里，是多空争夺后&quot;落袋&quot;的结果。&lt;/Text&gt;&#10;            &lt;/Box&gt;&#10;            &lt;Box style={{ background: '#F7F9FC', border: '1px solid #E5E7EB', borderRadius: 8, padding: 18, flex: 1 }}&gt;&#10;                &lt;Text style={{ fontSize: 19, color: '#D9534F', fontWeight: 'bold' }}&gt;影线 = 到过、没站住&lt;/Text&gt;&#10;                &lt;Text style={{ fontSize: 17, color: '#1A2230', lineHeight: 1.6, marginTop: 6 }}&gt;冲出去又被推回来的那段。它不是没用——它记录了哪里有人阻击、哪里有人接货。&lt;/Text&gt;&#10;            &lt;/Box&gt;&#10;            &lt;Box style={{ background: '#E8EFF8', borderRadius: 8, padding: 18, flex: 1 }}&gt;&#10;                &lt;Text style={{ fontSize: 19, color: '#0E3F8C', fontWeight: 'bold' }}&gt;判断输赢只看开和收&lt;/Text&gt;&#10;                &lt;Text style={{ fontSize: 17, color: '#1A2230', lineHeight: 1.6, marginTop: 6 }}&gt;收高于开 → 红（阳线，买方赢）；收低于开 → 绿（阴线，卖方赢）。中途冲多高都不算赢。&lt;/Text&gt;&#10;            &lt;/Box&gt;&#10;        &lt;/Box&gt;&#10;        &lt;Box style={{ flex: 1, background: '#F7F9FC', border: '1px solid #E5E7EB', borderRadius: 10, justifyContent: 'center', alignItems: 'center', padding: 12 }}&gt;&#10;            &lt;svg width={380} height={480} viewBox=&quot;0 0 380 480&quot;&gt;&#10;                &lt;g stroke=&quot;#D6DCE5&quot; strokeWidth=&quot;1&quot;&gt;&#10;                    &lt;line x1=&quot;50&quot; y1=&quot;33&quot; x2=&quot;360&quot; y2=&quot;33&quot; /&gt;&lt;line x1=&quot;50&quot; y1=&quot;100&quot; x2=&quot;360&quot; y2=&quot;100&quot; /&gt;&#10;                    &lt;line x1=&quot;50&quot; y1=&quot;200&quot; x2=&quot;360&quot; y2=&quot;200&quot; /&gt;&lt;line x1=&quot;50&quot; y1=&quot;333&quot; x2=&quot;360&quot; y2=&quot;333&quot; /&gt;&#10;                    &lt;line x1=&quot;50&quot; y1=&quot;367&quot; x2=&quot;360&quot; y2=&quot;367&quot; /&gt;&#10;                &lt;/g&gt;&#10;                &lt;g fill=&quot;#8B97A8&quot; fontSize=&quot;12&quot; textAnchor=&quot;end&quot;&gt;&#10;                    &lt;text x=&quot;42&quot; y=&quot;37&quot;&gt;107&lt;/text&gt;&lt;text x=&quot;42&quot; y=&quot;104&quot;&gt;105&lt;/text&gt;&lt;text x=&quot;42&quot; y=&quot;337&quot;&gt;98&lt;/text&gt;&lt;text x=&quot;42&quot; y=&quot;371&quot;&gt;97&lt;/text&gt;&#10;                &lt;/g&gt;&#10;                &lt;line x1=&quot;170&quot; y1=&quot;33&quot; x2=&quot;170&quot; y2=&quot;100&quot; stroke=&quot;#2FA35A&quot; strokeWidth=&quot;4&quot; /&gt;&#10;                &lt;rect x=&quot;134&quot; y=&quot;100&quot; width=&quot;72&quot; height=&quot;233&quot; fill=&quot;#2FA35A&quot; /&gt;&#10;                &lt;line x1=&quot;170&quot; y1=&quot;333&quot; x2=&quot;170&quot; y2=&quot;367&quot; stroke=&quot;#2FA35A&quot; strokeWidth=&quot;4&quot; /&gt;&#10;                &lt;text x=&quot;216&quot; y=&quot;40&quot; fill=&quot;#4A5568&quot; fontSize=&quot;13&quot;&gt;最高 107&lt;/text&gt;&#10;                &lt;text x=&quot;216&quot; y=&quot;106&quot; fill=&quot;#1A2230&quot; fontSize=&quot;13&quot; fontWeight=&quot;bold&quot;&gt;开盘 105&lt;/text&gt;&#10;                &lt;text x=&quot;216&quot; y=&quot;337&quot; fill=&quot;#1A2230&quot; fontSize=&quot;13&quot; fontWeight=&quot;bold&quot;&gt;收盘 98&lt;/text&gt;&#10;                &lt;text x=&quot;216&quot; y=&quot;371&quot; fill=&quot;#4A5568&quot; fontSize=&quot;13&quot;&gt;最低 97&lt;/text&gt;&#10;                &lt;text x=&quot;76&quot; y=&quot;450&quot; fill=&quot;#8B97A8&quot; fontSize=&quot;13&quot;&gt;绿色 = 阴线：收低于开，卖方赢了&lt;/text&gt;&#10;            &lt;/svg&gt;&#10;        &lt;/Box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08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0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3057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阴线对照：影线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vs 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实体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10620375" y="30480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自编示意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数值虚构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228600" y="990600"/>
            <a:ext cx="6715125" cy="1571625"/>
          </a:xfrm>
          <a:prstGeom prst="roundRect">
            <a:avLst>
              <a:gd name="adj" fmla="val 48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00050" y="1162050"/>
            <a:ext cx="6372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实体</a:t>
            </a: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 =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站住的部分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00050" y="1438275"/>
            <a:ext cx="637222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从开盘价到收盘价这一段。时间结束时价格停在这里，是多空争夺后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落袋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的结果。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228600" y="2676525"/>
            <a:ext cx="6715125" cy="1571625"/>
          </a:xfrm>
          <a:prstGeom prst="roundRect">
            <a:avLst>
              <a:gd name="adj" fmla="val 484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400050" y="2847975"/>
            <a:ext cx="6372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影线</a:t>
            </a: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> =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到过、没站住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00050" y="3124200"/>
            <a:ext cx="6372225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冲出去又被推回来的那段。它不是没用——它记录了哪里有人阻击、哪里有人接货。</a:t>
            </a:r>
            <a:endParaRPr/>
          </a:p>
        </p:txBody>
      </p:sp>
      <p:sp>
        <p:nvSpPr>
          <p:cNvPr id="199" name=""/>
          <p:cNvSpPr/>
          <p:nvPr/>
        </p:nvSpPr>
        <p:spPr>
          <a:xfrm rot="0" flipH="0" flipV="0">
            <a:off x="228600" y="4362450"/>
            <a:ext cx="6715125" cy="1885950"/>
          </a:xfrm>
          <a:prstGeom prst="roundRect">
            <a:avLst>
              <a:gd name="adj" fmla="val 404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00050" y="4533900"/>
            <a:ext cx="63722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判断输赢只看开和收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400050" y="4810125"/>
            <a:ext cx="63722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收高于开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红（阳线，买方赢）；收低于开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 →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绿（阴线，卖方赢）。中途冲多高都不算赢。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7172325" y="990600"/>
            <a:ext cx="4791075" cy="5257800"/>
          </a:xfrm>
          <a:prstGeom prst="roundRect">
            <a:avLst>
              <a:gd name="adj" fmla="val 198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20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762875" y="1333500"/>
            <a:ext cx="3619500" cy="4572000"/>
          </a:xfrm>
          <a:prstGeom prst="rect">
            <a:avLst/>
          </a:prstGeom>
          <a:ln/>
        </p:spPr>
      </p:pic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08 / 11</a:t>
            </a:r>
            <a:endParaRPr/>
          </a:p>
        </p:txBody>
      </p:sp>
    </p:spTree>
  </p:cSld>
</p:sld>
</file>

<file path=ppt/slides/slide9.xml><?xml version="1.0" encoding="utf-8"?>
<p:sld xmlns:a="http://schemas.openxmlformats.org/drawingml/2006/main" xmlns:p="http://schemas.openxmlformats.org/presentationml/2006/main">
  <p:cSld>
    <p:spTree>
      <p:nvGrpSpPr>
        <p:cNvPr id="206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随堂检查（满分 100）&lt;/Text&gt;&#10;        &lt;Text style={{ fontSize: 14, color: '#B9CCED' }}&gt;EX-L01 · 评分标准作答前已公布&lt;/Text&gt;&#10;    &lt;/Box&gt;&#10;    &lt;Box style={{ flex: 1, padding: 26, flexDirection: 'column', gap: 18 }}&gt;&#10;        &lt;Box style={{ flex: 1.25, background: '#F7F9FC', border: '1px solid #E5E7EB', borderRadius: 10, padding: 24, flexDirection: 'row', gap: 24 }}&gt;&#10;            &lt;Box style={{ width: 200, justifyContent: 'center', gap: 10 }}&gt;&#10;                &lt;Box style={{ background: '#1E4FA8', borderRadius: 6, paddingLeft: 12, paddingRight: 12, paddingTop: 4, paddingBottom: 4, alignSelf: 'flex-start' }}&gt;&#10;                    &lt;Text style={{ fontSize: 16, color: '#FFFFFF', fontWeight: 'bold' }}&gt;第 1 题 · 60 分&lt;/Text&gt;&#10;                &lt;/Box&gt;&#10;                &lt;Text style={{ fontSize: 26, color: '#1A2230', fontWeight: 'bold', lineHeight: 1.5 }}&gt;开 2050&lt;br/&gt;收 2044&lt;br/&gt;高 2053&lt;br/&gt;低 2041&lt;/Text&gt;&#10;            &lt;/Box&gt;&#10;            &lt;Box style={{ flex: 1, justifyContent: 'center', gap: 12 }}&gt;&#10;                {['这根 K 线是阳线还是阴线？', '实体从哪个数到哪个数？', '上影线到哪个数？下影线到哪个数？', '这 5 分钟买方卖方谁赢了？说理由。'].map((q, i) =&gt; (&#10;                    &lt;Box key={i} style={{ flexDirection: 'row', alignItems: 'center', gap: 12 }}&gt;&#10;                        &lt;Box style={{ width: 26, height: 26, background: '#E8EFF8', borderRadius: 5, justifyContent: 'center', alignItems: 'center' }}&gt;&#10;                            &lt;Text style={{ fontSize: 14, color: '#1E4FA8', fontWeight: 'bold' }}&gt;{['①', '②', '③', '④'][i]}&lt;/Text&gt;&#10;                        &lt;/Box&gt;&#10;                        &lt;Text style={{ fontSize: 18, color: '#1A2230' }}&gt;{q}&lt;/Text&gt;&#10;                    &lt;/Box&gt;&#10;                ))}&#10;            &lt;/Box&gt;&#10;        &lt;/Box&gt;&#10;        &lt;Box style={{ flex: 1, background: '#F0F5FC', borderRadius: 10, padding: 24, flexDirection: 'row', gap: 24 }}&gt;&#10;            &lt;Box style={{ width: 200, justifyContent: 'center' }}&gt;&#10;                &lt;Box style={{ background: '#1E4FA8', borderRadius: 6, paddingLeft: 12, paddingRight: 12, paddingTop: 4, paddingBottom: 4, alignSelf: 'flex-start' }}&gt;&#10;                    &lt;Text style={{ fontSize: 16, color: '#FFFFFF', fontWeight: 'bold' }}&gt;第 2 题 · 40 分&lt;/Text&gt;&#10;                &lt;/Box&gt;&#10;            &lt;/Box&gt;&#10;            &lt;Box style={{ flex: 1, justifyContent: 'center', gap: 10 }}&gt;&#10;                &lt;Text style={{ fontSize: 20, color: '#1A2230', lineHeight: 1.55 }}&gt;不看任何资料，用你自己的话，一句话说清：&lt;span style={{ fontWeight: 'bold', color: '#0E3F8C' }}&gt;影线说明什么？&lt;/span&gt;&lt;/Text&gt;&#10;                &lt;Text style={{ fontSize: 14, color: '#4A5568', lineHeight: 1.6 }}&gt;允许答&quot;不确定&quot;，说清哪里不确定也给分。参考答案单独存放在 EX-L01-answers.md，作答前不看。&lt;/Text&gt;&#10;            &lt;/Box&gt;&#10;        &lt;/Box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09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28479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随堂检查（满分</a:t>
            </a: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 100</a:t>
            </a: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906000" y="304800"/>
            <a:ext cx="1905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EX-L01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评分标准作答前已公布</a:t>
            </a:r>
            <a:endParaRPr/>
          </a:p>
        </p:txBody>
      </p:sp>
      <p:sp>
        <p:nvSpPr>
          <p:cNvPr id="211" name=""/>
          <p:cNvSpPr/>
          <p:nvPr/>
        </p:nvSpPr>
        <p:spPr>
          <a:xfrm rot="0" flipH="0" flipV="0">
            <a:off x="247650" y="1009650"/>
            <a:ext cx="11696700" cy="3314700"/>
          </a:xfrm>
          <a:prstGeom prst="roundRect">
            <a:avLst>
              <a:gd name="adj" fmla="val 2874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2" name=""/>
          <p:cNvSpPr/>
          <p:nvPr/>
        </p:nvSpPr>
        <p:spPr>
          <a:xfrm rot="0" flipH="0" flipV="0">
            <a:off x="476250" y="1590675"/>
            <a:ext cx="1209675" cy="266700"/>
          </a:xfrm>
          <a:prstGeom prst="roundRect">
            <a:avLst>
              <a:gd name="adj" fmla="val 214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590550" y="1628775"/>
            <a:ext cx="981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 1 </a:t>
            </a: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题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 · 60 </a:t>
            </a: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476250" y="1952625"/>
            <a:ext cx="1905000" cy="17907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开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 2050</a:t>
            </a:r>
            <a:endParaRPr/>
          </a:p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收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 2044</a:t>
            </a:r>
            <a:endParaRPr/>
          </a:p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高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 2053</a:t>
            </a:r>
            <a:endParaRPr/>
          </a:p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低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 2041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2609850" y="200025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2667000" y="2047875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2971800" y="2019300"/>
            <a:ext cx="2105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这根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K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线是阳线还是阴线？</a:t>
            </a:r>
            <a:endParaRPr/>
          </a:p>
        </p:txBody>
      </p:sp>
      <p:sp>
        <p:nvSpPr>
          <p:cNvPr id="218" name=""/>
          <p:cNvSpPr/>
          <p:nvPr/>
        </p:nvSpPr>
        <p:spPr>
          <a:xfrm rot="0" flipH="0" flipV="0">
            <a:off x="2609850" y="236220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2667000" y="2409825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2971800" y="2381250"/>
            <a:ext cx="18859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实体从哪个数到哪个数？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2609850" y="272415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2667000" y="2771775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2971800" y="2743200"/>
            <a:ext cx="2743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上影线到哪个数？下影线到哪个数？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2609850" y="3086100"/>
            <a:ext cx="247650" cy="247650"/>
          </a:xfrm>
          <a:prstGeom prst="roundRect">
            <a:avLst>
              <a:gd name="adj" fmla="val 19231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2667000" y="3133725"/>
            <a:ext cx="133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2971800" y="3105150"/>
            <a:ext cx="27717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这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分钟买方卖方谁赢了？说理由。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247650" y="4495800"/>
            <a:ext cx="11696700" cy="1733550"/>
          </a:xfrm>
          <a:prstGeom prst="roundRect">
            <a:avLst>
              <a:gd name="adj" fmla="val 549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8" name=""/>
          <p:cNvSpPr/>
          <p:nvPr/>
        </p:nvSpPr>
        <p:spPr>
          <a:xfrm rot="0" flipH="0" flipV="0">
            <a:off x="476250" y="5229225"/>
            <a:ext cx="1209675" cy="266700"/>
          </a:xfrm>
          <a:prstGeom prst="roundRect">
            <a:avLst>
              <a:gd name="adj" fmla="val 214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590550" y="5267325"/>
            <a:ext cx="981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 2 </a:t>
            </a: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题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 · 40 </a:t>
            </a: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分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2609850" y="5010150"/>
            <a:ext cx="9105900" cy="3619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不看任何资料，用你自己的话，一句话说清：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影线说明什么？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2609850" y="5467350"/>
            <a:ext cx="9105900" cy="2571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允许答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不确定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，说清哪里不确定也给分。参考答案单独存放在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EX-L01-answers.md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，作答前不看。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09 / 11</a:t>
            </a:r>
            <a:endParaRPr/>
          </a:p>
        </p:txBody>
      </p:sp>
    </p:spTree>
  </p:cSld>
</p:sld>
</file>

<file path=ppt/slides/slide10.xml><?xml version="1.0" encoding="utf-8"?>
<p:sld xmlns:a="http://schemas.openxmlformats.org/drawingml/2006/main" xmlns:p="http://schemas.openxmlformats.org/presentationml/2006/main">
  <p:cSld>
    <p:spTree>
      <p:nvGrpSpPr>
        <p:cNvPr id="13" name="" descr="&lt;Slide style={{ padding: 0, background: '#FFFFFF' }}&gt;&#10;    &lt;Box style={{ height: 80, background: '#0E3F8C', flexDirection: 'row', alignItems: 'center', justifyContent: 'space-between', paddingLeft: 40, paddingRight: 40 }}&gt;&#10;        &lt;Text style={{ fontSize: 30, color: '#FFFFFF', fontWeight: 'bold' }}&gt;术语大白话（随时回来查）&lt;/Text&gt;&#10;        &lt;Text style={{ fontSize: 14, color: '#B9CCED' }}&gt;本讲 7 个 · 一句一行&lt;/Text&gt;&#10;    &lt;/Box&gt;&#10;    &lt;Box style={{ flex: 1, flexDirection: 'row', padding: 26, gap: 24 }}&gt;&#10;        &lt;Box style={{ width: 260, background: '#0E3F8C', borderRadius: 10, padding: 26, justifyContent: 'center', gap: 12 }}&gt;&#10;            &lt;Text style={{ fontSize: 26, color: '#FFFFFF', fontWeight: 'bold', lineHeight: 1.5 }}&gt;黑话&lt;br/&gt;翻译器&lt;/Text&gt;&#10;            &lt;Text style={{ fontSize: 15, color: '#B9CCED', lineHeight: 1.7 }}&gt;以后每讲的新术语都会这样翻一遍，并汇总进总术语表。&lt;/Text&gt;&#10;        &lt;/Box&gt;&#10;        &lt;Box style={{ flex: 1, flexDirection: 'column', gap: 8 }}&gt;&#10;            {[&#10;                ['开盘价 open', '这段时间的第一笔成交价'],&#10;                ['收盘价 close', '这段时间的最后一笔成交价'],&#10;                ['最高价 high / 最低价 low', '这段时间到过的两个极端价格'],&#10;                ['实体 body', '开盘价到收盘价之间那个粗块'],&#10;                ['影线 wick', '实体上下伸出的细线：到过、没站住的地方'],&#10;                ['阳线 / 阴线', '收高于开（红）/ 收低于开（绿）'],&#10;                ['K 线 candlestick', '把一段时间浓缩成的这根小柱子'],&#10;            ].map((t, i) =&gt; (&#10;                &lt;Box key={i} style={{ flex: 1, flexDirection: 'row', alignItems: 'center', gap: 14, background: '#F7F9FC', border: '1px solid #E5E7EB', borderRadius: 8, paddingLeft: 16, paddingRight: 16 }}&gt;&#10;                    &lt;Text style={{ fontSize: 16, color: '#1E4FA8', fontWeight: 'bold', width: 210 }}&gt;{t[0]}&lt;/Text&gt;&#10;                    &lt;Text style={{ flex: 1, fontSize: 16, color: '#1A2230' }}&gt;{t[1]}&lt;/Text&gt;&#10;                &lt;/Box&gt;&#10;            ))}&#10;        &lt;/Box&gt;&#10;    &lt;/Box&gt;&#10;    &lt;Box style={{ height: 40, flexDirection: 'row', alignItems: 'center', justifyContent: 'space-between', paddingLeft: 40, paddingRight: 40 }}&gt;&#10;        &lt;Text style={{ fontSize: 14, color: '#8B97A8' }}&gt;Brooks 价格行为学习 · 趋势卷&lt;/Text&gt;&#10;        &lt;Text style={{ fontSize: 14, color: '#1E4FA8' }}&gt;10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3429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术语大白话（随时回来查）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0601325" y="304800"/>
            <a:ext cx="1209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本讲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7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一句一行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247650" y="1009650"/>
            <a:ext cx="2476500" cy="5219700"/>
          </a:xfrm>
          <a:prstGeom prst="roundRect">
            <a:avLst>
              <a:gd name="adj" fmla="val 384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495300" y="2819400"/>
            <a:ext cx="1981200" cy="895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黑话</a:t>
            </a:r>
            <a:endParaRPr/>
          </a:p>
          <a:p>
            <a:pPr>
              <a:lnSpc>
                <a:spcPct val="15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翻译器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495300" y="3829050"/>
            <a:ext cx="19812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B9CCED"/>
                </a:solidFill>
                <a:latin typeface="Microsoft YaHei"/>
                <a:ea typeface="Microsoft YaHei"/>
              </a:rPr>
              <a:t>以后每讲的新术语都会这样翻一遍，并汇总进总术语表。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2952750" y="1009650"/>
            <a:ext cx="8991600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105150" y="1257300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开盘价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open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5238750" y="1257300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这段时间的第一笔成交价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2952750" y="1762125"/>
            <a:ext cx="8991600" cy="68580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105150" y="2009775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收盘价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close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238750" y="2009775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这段时间的最后一笔成交价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2952750" y="2524125"/>
            <a:ext cx="8991600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3105150" y="2771775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最高价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high / </a:t>
            </a: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最低价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low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5238750" y="2771775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这段时间到过的两个极端价格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2952750" y="3276600"/>
            <a:ext cx="8991600" cy="68580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3105150" y="3524250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实体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body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5238750" y="3524250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开盘价到收盘价之间那个粗块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2952750" y="4038600"/>
            <a:ext cx="8991600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3105150" y="4286250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影线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wick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5238750" y="4286250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实体上下伸出的细线：到过、没站住的地方</a:t>
            </a:r>
            <a:endParaRPr/>
          </a:p>
        </p:txBody>
      </p:sp>
      <p:sp>
        <p:nvSpPr>
          <p:cNvPr id="36" name=""/>
          <p:cNvSpPr/>
          <p:nvPr/>
        </p:nvSpPr>
        <p:spPr>
          <a:xfrm rot="0" flipH="0" flipV="0">
            <a:off x="2952750" y="4791075"/>
            <a:ext cx="8991600" cy="685800"/>
          </a:xfrm>
          <a:prstGeom prst="roundRect">
            <a:avLst>
              <a:gd name="adj" fmla="val 1111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3105150" y="5038725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阳线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/ </a:t>
            </a: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阴线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5238750" y="5038725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收高于开（红）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收低于开（绿）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2952750" y="5553075"/>
            <a:ext cx="8991600" cy="676275"/>
          </a:xfrm>
          <a:prstGeom prst="roundRect">
            <a:avLst>
              <a:gd name="adj" fmla="val 1126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105150" y="5800725"/>
            <a:ext cx="2000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K </a:t>
            </a:r>
            <a:r>
              <a:rPr lang="zh-CN" sz="1200" b="1">
                <a:solidFill>
                  <a:srgbClr val="1E4FA8"/>
                </a:solidFill>
                <a:latin typeface="Microsoft YaHei"/>
                <a:ea typeface="Microsoft YaHei"/>
              </a:rPr>
              <a:t>线</a:t>
            </a:r>
            <a:r>
              <a:rPr lang="en-US" sz="1200" b="1">
                <a:solidFill>
                  <a:srgbClr val="1E4FA8"/>
                </a:solidFill>
                <a:latin typeface="Microsoft YaHei"/>
                <a:ea typeface="Microsoft YaHei"/>
              </a:rPr>
              <a:t> candlestick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5238750" y="5800725"/>
            <a:ext cx="655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把一段时间浓缩成的这根小柱子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7716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Brooks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价格行为学习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趋势卷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11410950" y="659130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1E4FA8"/>
                </a:solidFill>
                <a:latin typeface="Microsoft YaHei"/>
                <a:ea typeface="Microsoft YaHei"/>
              </a:rPr>
              <a:t>10 / 11</a:t>
            </a:r>
            <a:endParaRPr/>
          </a:p>
        </p:txBody>
      </p:sp>
    </p:spTree>
  </p:cSld>
</p:sld>
</file>

<file path=ppt/slides/slide11.xml><?xml version="1.0" encoding="utf-8"?>
<p:sld xmlns:a="http://schemas.openxmlformats.org/drawingml/2006/main" xmlns:p="http://schemas.openxmlformats.org/presentationml/2006/main">
  <p:cSld>
    <p:spTree>
      <p:nvGrpSpPr>
        <p:cNvPr id="44" name="" descr="&lt;Slide style={{ padding: 0, background: '#0E3F8C' }}&gt;&#10;    &lt;Box style={{ flex: 1, justifyContent: 'center', paddingLeft: 64, paddingRight: 64, gap: 18 }}&gt;&#10;        &lt;Text style={{ fontSize: 20, color: '#B9CCED', letterSpacing: 4 }}&gt;补课结束 · 回到原书&lt;/Text&gt;&#10;        &lt;Text style={{ fontSize: 52, color: '#FFFFFF', fontWeight: 'bold' }}&gt;下一步：引言正文&lt;/Text&gt;&#10;        &lt;Text style={{ fontSize: 22, color: '#C9D8F2', lineHeight: 1.6 }}&gt;作者阿尔·布鲁克斯是谁 ｜ 这套书三本怎么分工：《趋势》《波段》《反转》&lt;/Text&gt;&#10;        &lt;Box style={{ flexDirection: 'row', gap: 12, marginTop: 12 }}&gt;&#10;            &lt;Box style={{ background: '#FFC107', borderRadius: 6, paddingLeft: 14, paddingRight: 14, paddingTop: 6, paddingBottom: 6 }}&gt;&#10;                &lt;Text style={{ fontSize: 16, color: '#1A2230', fontWeight: 'bold' }}&gt;当前状态：第 1 讲随堂检查待作答&lt;/Text&gt;&#10;            &lt;/Box&gt;&#10;            &lt;Box style={{ border: '1px solid #3D7BD9', borderRadius: 6, paddingLeft: 14, paddingRight: 14, paddingTop: 6, paddingBottom: 6 }}&gt;&#10;                &lt;Text style={{ fontSize: 16, color: '#C9D8F2' }}&gt;答完两题 → 进入引言正文&lt;/Text&gt;&#10;            &lt;/Box&gt;&#10;        &lt;/Box&gt;&#10;    &lt;/Box&gt;&#10;    &lt;Box style={{ height: 56, background: '#12336E', flexDirection: 'row', alignItems: 'center', justifyContent: 'space-between', paddingLeft: 64, paddingRight: 64 }}&gt;&#10;        &lt;Text style={{ fontSize: 14, color: '#B9CCED' }}&gt;个人学习笔记 · CC BY-NC 4.0 · 原书版权归作者与出版方所有&lt;/Text&gt;&#10;        &lt;Text style={{ fontSize: 14, color: '#B9CCED' }}&gt;11 / 11&lt;/Text&gt;&#10;  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09600" y="2076450"/>
            <a:ext cx="10972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300">
                <a:solidFill>
                  <a:srgbClr val="B9CCED"/>
                </a:solidFill>
                <a:latin typeface="Microsoft YaHei"/>
                <a:ea typeface="Microsoft YaHei"/>
              </a:rPr>
              <a:t>补课结束</a:t>
            </a:r>
            <a:r>
              <a:rPr lang="en-US" sz="1500" spc="300">
                <a:solidFill>
                  <a:srgbClr val="B9CCED"/>
                </a:solidFill>
                <a:latin typeface="Microsoft YaHei"/>
                <a:ea typeface="Microsoft YaHei"/>
              </a:rPr>
              <a:t> · </a:t>
            </a:r>
            <a:r>
              <a:rPr lang="zh-CN" sz="1500" spc="300">
                <a:solidFill>
                  <a:srgbClr val="B9CCED"/>
                </a:solidFill>
                <a:latin typeface="Microsoft YaHei"/>
                <a:ea typeface="Microsoft YaHei"/>
              </a:rPr>
              <a:t>回到原书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09600" y="2476500"/>
            <a:ext cx="10972800" cy="600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900" b="1">
                <a:solidFill>
                  <a:srgbClr val="FFFFFF"/>
                </a:solidFill>
                <a:latin typeface="Microsoft YaHei"/>
                <a:ea typeface="Microsoft YaHei"/>
              </a:rPr>
              <a:t>下一步：引言正文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09600" y="3248025"/>
            <a:ext cx="10972800" cy="4095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650">
                <a:solidFill>
                  <a:srgbClr val="C9D8F2"/>
                </a:solidFill>
                <a:latin typeface="Microsoft YaHei"/>
                <a:ea typeface="Microsoft YaHei"/>
              </a:rPr>
              <a:t>作者阿尔·布鲁克斯是谁</a:t>
            </a:r>
            <a:r>
              <a:rPr lang="en-US" sz="1650">
                <a:solidFill>
                  <a:srgbClr val="C9D8F2"/>
                </a:solidFill>
                <a:latin typeface="Microsoft YaHei"/>
                <a:ea typeface="Microsoft YaHei"/>
              </a:rPr>
              <a:t> </a:t>
            </a:r>
            <a:r>
              <a:rPr lang="zh-CN" sz="1650">
                <a:solidFill>
                  <a:srgbClr val="C9D8F2"/>
                </a:solidFill>
                <a:latin typeface="Microsoft YaHei"/>
                <a:ea typeface="Microsoft YaHei"/>
              </a:rPr>
              <a:t>｜</a:t>
            </a:r>
            <a:r>
              <a:rPr lang="en-US" sz="1650">
                <a:solidFill>
                  <a:srgbClr val="C9D8F2"/>
                </a:solidFill>
                <a:latin typeface="Microsoft YaHei"/>
                <a:ea typeface="Microsoft YaHei"/>
              </a:rPr>
              <a:t> </a:t>
            </a:r>
            <a:r>
              <a:rPr lang="zh-CN" sz="1650">
                <a:solidFill>
                  <a:srgbClr val="C9D8F2"/>
                </a:solidFill>
                <a:latin typeface="Microsoft YaHei"/>
                <a:ea typeface="Microsoft YaHei"/>
              </a:rPr>
              <a:t>这套书三本怎么分工：《趋势》《波段》《反转》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609600" y="3943350"/>
            <a:ext cx="2571750" cy="304800"/>
          </a:xfrm>
          <a:prstGeom prst="roundRect">
            <a:avLst>
              <a:gd name="adj" fmla="val 18750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42950" y="4000500"/>
            <a:ext cx="23050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Microsoft YaHei"/>
                <a:ea typeface="Microsoft YaHei"/>
              </a:rPr>
              <a:t>当前状态：第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 1 </a:t>
            </a:r>
            <a:r>
              <a:rPr lang="zh-CN" sz="1200" b="1">
                <a:solidFill>
                  <a:srgbClr val="1A2230"/>
                </a:solidFill>
                <a:latin typeface="Microsoft YaHei"/>
                <a:ea typeface="Microsoft YaHei"/>
              </a:rPr>
              <a:t>讲随堂检查待作答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3295650" y="3943350"/>
            <a:ext cx="2028825" cy="304800"/>
          </a:xfrm>
          <a:prstGeom prst="roundRect">
            <a:avLst>
              <a:gd name="adj" fmla="val 18750"/>
            </a:avLst>
          </a:prstGeom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3429000" y="4000500"/>
            <a:ext cx="1762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C9D8F2"/>
                </a:solidFill>
                <a:latin typeface="Microsoft YaHei"/>
                <a:ea typeface="Microsoft YaHei"/>
              </a:rPr>
              <a:t>答完两题</a:t>
            </a:r>
            <a:r>
              <a:rPr lang="en-US" sz="1200">
                <a:solidFill>
                  <a:srgbClr val="C9D8F2"/>
                </a:solidFill>
                <a:latin typeface="Microsoft YaHei"/>
                <a:ea typeface="Microsoft YaHei"/>
              </a:rPr>
              <a:t> → </a:t>
            </a:r>
            <a:r>
              <a:rPr lang="zh-CN" sz="1200">
                <a:solidFill>
                  <a:srgbClr val="C9D8F2"/>
                </a:solidFill>
                <a:latin typeface="Microsoft YaHei"/>
                <a:ea typeface="Microsoft YaHei"/>
              </a:rPr>
              <a:t>进入引言正文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12336E"/>
          </a:solidFill>
          <a:ln/>
        </p:spPr>
        <p:txBody>
          <a:bodyPr/>
          <a:p/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09600" y="6515100"/>
            <a:ext cx="3629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个人学习笔记</a:t>
            </a: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 · CC BY-NC 4.0 · </a:t>
            </a:r>
            <a:r>
              <a:rPr lang="zh-CN" sz="1050">
                <a:solidFill>
                  <a:srgbClr val="B9CCED"/>
                </a:solidFill>
                <a:latin typeface="Microsoft YaHei"/>
                <a:ea typeface="Microsoft YaHei"/>
              </a:rPr>
              <a:t>原书版权归作者与出版方所有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11191875" y="6515100"/>
            <a:ext cx="390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B9CCED"/>
                </a:solidFill>
                <a:latin typeface="Microsoft YaHei"/>
                <a:ea typeface="Microsoft YaHei"/>
              </a:rPr>
              <a:t>11 / 11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2026-10-14T02:45:26Z</dcterms:created>
  <dcterms:modified xsi:type="dcterms:W3CDTF">2026-10-14T02:45:26Z</dcterms:modified>
</cp:coreProperties>
</file>
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2" Type="http://schemas.openxmlformats.org/officeDocument/2006/relationships/viewProps" Target="viewProps.xml" /><Relationship Id="rId2" Type="http://schemas.openxmlformats.org/officeDocument/2006/relationships/slide" Target="slides/slide2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9" Type="http://schemas.openxmlformats.org/officeDocument/2006/relationships/slide" Target="slides/slide9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21" Type="http://schemas.openxmlformats.org/officeDocument/2006/relationships/tableStyles" Target="tableStyles.xml" /><Relationship Id="rId19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20" Type="http://schemas.openxmlformats.org/officeDocument/2006/relationships/presProps" Target="presProp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padding: 0, background: '#FFFFFF' }}&gt;&#10;    &lt;Box style={{ height: 88, background: '#0E3F8C', justifyContent: 'center', paddingLeft: 48 }}&gt;&#10;        &lt;Text style={{ fontSize: 18, color: '#C9D8F2', letterSpacing: 3 }}&gt;价格行为四本书系统学习 · 第 1 本&lt;/Text&gt;&#10;    &lt;/Box&gt;&#10;    &lt;Box style={{ flex: 1, justifyContent: 'center', paddingLeft: 48, paddingRight: 48, gap: 16 }}&gt;&#10;        &lt;Text style={{ fontSize: 20, color: '#1E4FA8', fontWeight: 'bold', letterSpacing: 5 }}&gt;学习讲义（持续更新）&lt;/Text&gt;&#10;        &lt;Text style={{ fontSize: 64, color: '#1A2230', fontWeight: 'bold' }}&gt;高级趋势技术分析&lt;/Text&gt;&#10;        &lt;Text style={{ fontSize: 23, color: '#4A5568' }}&gt;Trading Price Action Trends — 价格行为交易系统之趋势分析&lt;/Text&gt;&#10;        &lt;Box style={{ width: 120, height: 6, background: '#1E4FA8', marginTop: 6 }} /&gt;&#10;        &lt;Text style={{ fontSize: 18, color: '#4A5568', lineHeight: 1.6 }}&gt;按原书章节顺序逐节精读 ｜ 每讲配动画与习题 ｜ 学完一节留一节成果&lt;/Text&gt;&#10;    &lt;/Box&gt;&#10;    &lt;Box style={{ height: 64, background: '#F7F9FC', flexDirection: 'row', alignItems: 'center', justifyContent: 'space-between', paddingLeft: 48, paddingRight: 48 }}&gt;&#10;        &lt;Text style={{ fontSize: 14, color: '#8B97A8' }}&gt;阿尔·布鲁克斯 著 ｜ 段呈伟 译 ｜ 山西人民出版社 2016.3&lt;/Text&gt;&#10;        &lt;Text style={{ fontSize: 14, color: '#8B97A8' }}&gt;个人学习笔记 · 非原书内容 ｜ 2026-10-14 起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57200" y="314325"/>
            <a:ext cx="1173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C9D8F2"/>
                </a:solidFill>
                <a:latin typeface="Microsoft YaHei"/>
                <a:ea typeface="Microsoft YaHei"/>
              </a:rPr>
              <a:t>价格行为四本书系统学习</a:t>
            </a:r>
            <a:r>
              <a:rPr lang="en-US" sz="1350" spc="225">
                <a:solidFill>
                  <a:srgbClr val="C9D8F2"/>
                </a:solidFill>
                <a:latin typeface="Microsoft YaHei"/>
                <a:ea typeface="Microsoft YaHei"/>
              </a:rPr>
              <a:t> · </a:t>
            </a:r>
            <a:r>
              <a:rPr lang="zh-CN" sz="1350" spc="225">
                <a:solidFill>
                  <a:srgbClr val="C9D8F2"/>
                </a:solidFill>
                <a:latin typeface="Microsoft YaHei"/>
                <a:ea typeface="Microsoft YaHei"/>
              </a:rPr>
              <a:t>第</a:t>
            </a:r>
            <a:r>
              <a:rPr lang="en-US" sz="1350" spc="225">
                <a:solidFill>
                  <a:srgbClr val="C9D8F2"/>
                </a:solidFill>
                <a:latin typeface="Microsoft YaHei"/>
                <a:ea typeface="Microsoft YaHei"/>
              </a:rPr>
              <a:t> 1 </a:t>
            </a:r>
            <a:r>
              <a:rPr lang="zh-CN" sz="1350" spc="225">
                <a:solidFill>
                  <a:srgbClr val="C9D8F2"/>
                </a:solidFill>
                <a:latin typeface="Microsoft YaHei"/>
                <a:ea typeface="Microsoft YaHei"/>
              </a:rPr>
              <a:t>本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57200" y="2400300"/>
            <a:ext cx="1127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375">
                <a:solidFill>
                  <a:srgbClr val="1E4FA8"/>
                </a:solidFill>
                <a:latin typeface="Microsoft YaHei"/>
                <a:ea typeface="Microsoft YaHei"/>
              </a:rPr>
              <a:t>学习讲义（持续更新）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57200" y="2781300"/>
            <a:ext cx="11277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1A2230"/>
                </a:solidFill>
                <a:latin typeface="Microsoft YaHei"/>
                <a:ea typeface="Microsoft YaHei"/>
              </a:rPr>
              <a:t>高级趋势技术分析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57200" y="3667125"/>
            <a:ext cx="112776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>
                <a:solidFill>
                  <a:srgbClr val="4A5568"/>
                </a:solidFill>
                <a:latin typeface="Microsoft YaHei"/>
                <a:ea typeface="Microsoft YaHei"/>
              </a:rPr>
              <a:t>Trading Price Action Trends — 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价格行为交易系统之趋势分析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457200" y="4143375"/>
            <a:ext cx="1143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457200" y="4352925"/>
            <a:ext cx="112776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按原书章节顺序逐节精读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每讲配动画与习题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学完一节留一节成果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6248400"/>
            <a:ext cx="12192000" cy="6096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457200" y="6477000"/>
            <a:ext cx="3381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阿尔·布鲁克斯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著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段呈伟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译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山西人民出版社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2016.3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086850" y="6477000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个人学习笔记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非原书内容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2026-10-14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起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99" name="" descr="&lt;Slide style={{ padding: 0, background: '#FFFFFF' }}&gt;&#10;    &lt;Box style={{ height: 80, background: '#0E3F8C', flexDirection: 'row', alignItems: 'center', justifyContent: 'space-between', paddingLeft: 40, paddingRight: 40 }}&gt;&#10;        &lt;Text style={{ fontSize: 30, color: '#FFFFFF', fontWeight: 'bold' }}&gt;这本书学完，你能做到什么&lt;/Text&gt;&#10;        &lt;Text style={{ fontSize: 14, color: '#B9CCED' }}&gt;全书目标 · 可观察动作&lt;/Text&gt;&#10;    &lt;/Box&gt;&#10;    &lt;Box style={{ flex: 1, flexDirection: 'row', padding: 28, gap: 24 }}&gt;&#10;        &lt;Box style={{ width: 300, background: '#0E3F8C', borderRadius: 10, padding: 28, justifyContent: 'center', gap: 14 }}&gt;&#10;            &lt;Text style={{ fontSize: 72, color: '#FFFFFF', fontWeight: 'bold' }}&gt;5&lt;/Text&gt;&#10;            &lt;Text style={{ fontSize: 22, color: '#E8EFF8', lineHeight: 1.5 }}&gt;项能独立完成的动作&lt;/Text&gt;&#10;            &lt;Text style={{ fontSize: 15, color: '#B9CCED', lineHeight: 1.6 }}&gt;不说&quot;理解、掌握&quot;这类没法检验的词，每一条都能在一张新图表上做出来。&lt;/Text&gt;&#10;        &lt;/Box&gt;&#10;        &lt;Box style={{ flex: 1, flexDirection: 'column', gap: 12 }}&gt;&#10;            {[&#10;                ['1', '说清市场只有趋势和区间两种状态，并且会互相转换'],&#10;                ['2', '在新图表上指出趋势K线、十字星、信号K线、入场K线、二次入场点'],&#10;                ['3', '画出趋势线与通道，并说明什么情况下它们失效'],&#10;                ['4', '说出判断趋势强弱的特征清单，并给一张图的趋势强度打分'],&#10;                ['5', '指认急速+通道、楼梯、趋势恢复等常见形态，说出每种形态接下来的大概率走法（概率，不是保证）'],&#10;            ].map((it, i) =&gt; (&#10;                &lt;Box key={i} style={{ flex: 1, flexDirection: 'row', alignItems: 'center', gap: 16, background: '#F7F9FC', borderRadius: 8, paddingLeft: 16, paddingRight: 16, border: '1px solid #E5E7EB' }}&gt;&#10;                    &lt;Box style={{ width: 34, height: 34, background: '#1E4FA8', borderRadius: 6, justifyContent: 'center', alignItems: 'center' }}&gt;&#10;                        &lt;Text style={{ fontSize: 18, color: '#FFFFFF', fontWeight: 'bold' }}&gt;{it[0]}&lt;/Text&gt;&#10;                    &lt;/Box&gt;&#10;                    &lt;Text style={{ flex: 1, fontSize: 17, color: '#1A2230', lineHeight: 1.45 }}&gt;{it[1]}&lt;/Text&gt;&#10;                &lt;/Box&gt;&#10;            ))}&#10;        &lt;/Box&gt;&#10;    &lt;/Box&gt;&#10;    &lt;Box style={{ height: 40, flexDirection: 'row', alignItems: 'center', justifyContent: 'space-between', paddingLeft: 40, paddingRight: 40 }}&gt;&#10;        &lt;Text style={{ fontSize: 14, color: '#8B97A8' }}&gt;Brooks 价格行为学习 · 趋势卷&lt;/Text&gt;&#10;        &lt;Text style={{ fontSize: 14, color: '#1E4FA8' }}&gt;02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这本书学完，你能做到什么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0487025" y="304800"/>
            <a:ext cx="132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全书目标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可观察动作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266700" y="1028700"/>
            <a:ext cx="2857500" cy="5181600"/>
          </a:xfrm>
          <a:prstGeom prst="roundRect">
            <a:avLst>
              <a:gd name="adj" fmla="val 3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33400" y="2466975"/>
            <a:ext cx="23241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33400" y="3429000"/>
            <a:ext cx="23241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项能独立完成的动作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33400" y="3943350"/>
            <a:ext cx="2324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不说</a:t>
            </a:r>
            <a:r>
              <a:rPr lang="en-US" sz="1125">
                <a:solidFill>
                  <a:srgbClr val="B9CCED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理解、掌握</a:t>
            </a:r>
            <a:r>
              <a:rPr lang="en-US" sz="1125">
                <a:solidFill>
                  <a:srgbClr val="B9CCED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这类没法检验的词，每一条都能在一张新图表上做出来。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352800" y="1028700"/>
            <a:ext cx="8572500" cy="942975"/>
          </a:xfrm>
          <a:prstGeom prst="roundRect">
            <a:avLst>
              <a:gd name="adj" fmla="val 80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3505200" y="13430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619500" y="14001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981450" y="1362075"/>
            <a:ext cx="77914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说清市场只有趋势和区间两种状态，并且会互相转换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352800" y="2085975"/>
            <a:ext cx="8572500" cy="942975"/>
          </a:xfrm>
          <a:prstGeom prst="roundRect">
            <a:avLst>
              <a:gd name="adj" fmla="val 80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3505200" y="240030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619500" y="245745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981450" y="2419350"/>
            <a:ext cx="77914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在新图表上指出趋势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K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线、十字星、信号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K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线、入场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K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线、二次入场点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352800" y="3143250"/>
            <a:ext cx="8572500" cy="9525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3505200" y="34575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619500" y="351472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981450" y="3476625"/>
            <a:ext cx="77914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画出趋势线与通道，并说明什么情况下它们失效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352800" y="4210050"/>
            <a:ext cx="8572500" cy="942975"/>
          </a:xfrm>
          <a:prstGeom prst="roundRect">
            <a:avLst>
              <a:gd name="adj" fmla="val 80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3505200" y="4524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619500" y="458152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981450" y="4543425"/>
            <a:ext cx="77914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说出判断趋势强弱的特征清单，并给一张图的趋势强度打分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352800" y="5267325"/>
            <a:ext cx="8572500" cy="942975"/>
          </a:xfrm>
          <a:prstGeom prst="roundRect">
            <a:avLst>
              <a:gd name="adj" fmla="val 80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3505200" y="558165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619500" y="563880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981450" y="5600700"/>
            <a:ext cx="77914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指认急速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+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通道、楼梯、趋势恢复等常见形态，说出每种形态接下来的大概率走法（概率，不是保证）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410950" y="6591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30" name="" descr="&lt;Slide style={{ padding: 0, background: '#FFFFFF' }}&gt;&#10;    &lt;Box style={{ height: 80, background: '#0E3F8C', flexDirection: 'row', alignItems: 'center', justifyContent: 'space-between', paddingLeft: 40, paddingRight: 40 }}&gt;&#10;        &lt;Text style={{ fontSize: 30, color: '#FFFFFF', fontWeight: 'bold' }}&gt;全书地图：4 篇 26 章&lt;/Text&gt;&#10;        &lt;Text style={{ fontSize: 14, color: '#B9CCED' }}&gt;结构已核实 · 不跳章&lt;/Text&gt;&#10;    &lt;/Box&gt;&#10;    &lt;Box style={{ flex: 1, flexDirection: 'row', padding: 28, gap: 24 }}&gt;&#10;        &lt;Box style={{ flex: 1.5, flexDirection: 'column', gap: 12 }}&gt;&#10;            {[&#10;                ['第一篇', '价格行为（第 1-12 章）', 'K线语言与市场语法：信号K线、入场K线、二次入场点', true],&#10;                ['第二篇', '趋势线与通道（第 13-17 章）', '用线把市场结构框出来：趋势线、通道、摆动点', false],&#10;                ['第三篇', '趋势（第 18-20 章）', '把趋势当成可交易对象：强度清单、两段式行情', false],&#10;                ['第四篇', '常见趋势形态（第 21-26 章）', '六种反复出现的趋势日原型', false],&#10;            ].map((p, i) =&gt; (&#10;                &lt;Box key={i} style={{ flex: 1, flexDirection: 'row', alignItems: 'center', gap: 16, background: p[3] ? '#E8EFF8' : '#F7F9FC', border: p[3] ? '2px solid #1E4FA8' : '1px solid #E5E7EB', borderRadius: 8, paddingLeft: 18, paddingRight: 18 }}&gt;&#10;                    &lt;Text style={{ fontSize: 17, color: '#1E4FA8', fontWeight: 'bold', width: 62 }}&gt;{p[0]}&lt;/Text&gt;&#10;                    &lt;Box style={{ flex: 1 }}&gt;&#10;                        &lt;Text style={{ fontSize: 18, color: '#1A2230', fontWeight: 'bold' }}&gt;{p[1]}&lt;/Text&gt;&#10;                        &lt;Text style={{ fontSize: 14, color: '#4A5568' }}&gt;{p[2]}&lt;/Text&gt;&#10;                    &lt;/Box&gt;&#10;                &lt;/Box&gt;&#10;            ))}&#10;            &lt;Text style={{ fontSize: 14, color: '#D9534F' }}&gt;▲ 蓝框 = 当前学习区：第一篇之前还有「引言」（正在学）&lt;/Text&gt;&#10;        &lt;/Box&gt;&#10;        &lt;Box style={{ flex: 1, flexDirection: 'column', gap: 12 }}&gt;&#10;            &lt;Box style={{ background: '#F0F5FC', borderRadius: 8, padding: 18, flex: 1.2 }}&gt;&#10;                &lt;Text style={{ fontSize: 18, color: '#1E4FA8', fontWeight: 'bold' }}&gt;这份讲义怎么用&lt;/Text&gt;&#10;                &lt;Text style={{ fontSize: 15, color: '#1A2230', lineHeight: 1.7, marginTop: 8 }}&gt;每学一章，追加一组页面：学习目标 → 讲解 → 图解 → 随堂检查 → 术语大白话。复习时从后往前翻术语页最快。&lt;/Text&gt;&#10;            &lt;/Box&gt;&#10;            &lt;Box style={{ background: '#F7F9FC', border: '1px solid #E5E7EB', borderRadius: 8, padding: 18, flex: 1 }}&gt;&#10;                &lt;Text style={{ fontSize: 18, color: '#1E4FA8', fontWeight: 'bold' }}&gt;两条规矩&lt;/Text&gt;&#10;                &lt;Text style={{ fontSize: 15, color: '#1A2230', lineHeight: 1.7, marginTop: 8 }}&gt;按原书顺序学，不跳章。难度与重要程度星级是教学初评，随精读和你的作答修订，不是作者评级。&lt;/Text&gt;&#10;            &lt;/Box&gt;&#10;        &lt;/Box&gt;&#10;    &lt;/Box&gt;&#10;    &lt;Box style={{ height: 40, flexDirection: 'row', alignItems: 'center', justifyContent: 'space-between', paddingLeft: 40, paddingRight: 40 }}&gt;&#10;        &lt;Text style={{ fontSize: 14, color: '#8B97A8' }}&gt;Brooks 价格行为学习 · 趋势卷&lt;/Text&gt;&#10;        &lt;Text style={{ fontSize: 14, color: '#1E4FA8' }}&gt;03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724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全书地图：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4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篇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26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0620375" y="304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结构已核实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不跳章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266700" y="1028700"/>
            <a:ext cx="6858000" cy="1143000"/>
          </a:xfrm>
          <a:prstGeom prst="roundRect">
            <a:avLst>
              <a:gd name="adj" fmla="val 6667"/>
            </a:avLst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38150" y="1504950"/>
            <a:ext cx="59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第一篇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81100" y="1419225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价格行为（第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1-12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章）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81100" y="1628775"/>
            <a:ext cx="577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K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线语言与市场语法：信号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K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线、入场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K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线、二次入场点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266700" y="2286000"/>
            <a:ext cx="6858000" cy="11430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38150" y="2762250"/>
            <a:ext cx="59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第二篇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81100" y="2676525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趋势线与通道（第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13-17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章）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181100" y="2886075"/>
            <a:ext cx="577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用线把市场结构框出来：趋势线、通道、摆动点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266700" y="3543300"/>
            <a:ext cx="6858000" cy="1133475"/>
          </a:xfrm>
          <a:prstGeom prst="roundRect">
            <a:avLst>
              <a:gd name="adj" fmla="val 672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38150" y="4010025"/>
            <a:ext cx="59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第三篇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81100" y="3924300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趋势（第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18-20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章）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81100" y="4133850"/>
            <a:ext cx="577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把趋势当成可交易对象：强度清单、两段式行情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266700" y="4791075"/>
            <a:ext cx="6858000" cy="11430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38150" y="5267325"/>
            <a:ext cx="590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第四篇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81100" y="5181600"/>
            <a:ext cx="5772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常见趋势形态（第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21-26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章）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81100" y="5391150"/>
            <a:ext cx="577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六种反复出现的趋势日原型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266700" y="60483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▲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蓝框</a:t>
            </a:r>
            <a:r>
              <a:rPr lang="en-US" sz="1050">
                <a:solidFill>
                  <a:srgbClr val="D9534F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当前学习区：第一篇之前还有「引言」（正在学）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353300" y="1028700"/>
            <a:ext cx="4572000" cy="2657475"/>
          </a:xfrm>
          <a:prstGeom prst="roundRect">
            <a:avLst>
              <a:gd name="adj" fmla="val 286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524750" y="1200150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这份讲义怎么用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4229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每学一章，追加一组页面：学习目标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讲解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图解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随堂检查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术语大白话。复习时从后往前翻术语页最快。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7353300" y="3800475"/>
            <a:ext cx="4572000" cy="2409825"/>
          </a:xfrm>
          <a:prstGeom prst="roundRect">
            <a:avLst>
              <a:gd name="adj" fmla="val 3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524750" y="3971925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两条规矩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524750" y="4257675"/>
            <a:ext cx="4229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按原书顺序学，不跳章。难度与重要程度星级是教学初评，随精读和你的作答修订，不是作者评级。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410950" y="6591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60" name="" descr="&lt;Slide style={{ padding: 0, background: '#0E3F8C' }}&gt;&#10;    &lt;Box style={{ flex: 1, flexDirection: 'row', alignItems: 'center', paddingLeft: 64, paddingRight: 64, gap: 48 }}&gt;&#10;        &lt;Text style={{ fontSize: 240, color: '#1E4FA8', fontWeight: 'bold' }}&gt;01&lt;/Text&gt;&#10;        &lt;Box style={{ gap: 14 }}&gt;&#10;            &lt;Text style={{ fontSize: 18, color: '#B9CCED', letterSpacing: 3 }}&gt;引言 · 第 1 讲&lt;/Text&gt;&#10;            &lt;Text style={{ fontSize: 44, color: '#FFFFFF', fontWeight: 'bold' }}&gt;一根 K 线是怎么长出来的&lt;/Text&gt;&#10;            &lt;Box style={{ flexDirection: 'row', gap: 12, marginTop: 6 }}&gt;&#10;                &lt;Box style={{ background: '#FFC107', borderRadius: 6, paddingLeft: 12, paddingRight: 12, paddingTop: 4, paddingBottom: 4 }}&gt;&#10;                    &lt;Text style={{ fontSize: 15, color: '#1A2230', fontWeight: 'bold' }}&gt;零基础补课 · 补充内容&lt;/Text&gt;&#10;                &lt;/Box&gt;&#10;                &lt;Box style={{ border: '1px solid #3D7BD9', borderRadius: 6, paddingLeft: 12, paddingRight: 12, paddingTop: 4, paddingBottom: 4 }}&gt;&#10;                    &lt;Text style={{ fontSize: 15, color: '#C9D8F2' }}&gt;讲完立即回到引言&lt;/Text&gt;&#10;                &lt;/Box&gt;&#10;            &lt;/Box&gt;&#10;            &lt;Text style={{ fontSize: 15, color: '#B9CCED', lineHeight: 1.6, marginTop: 10 }}&gt;原书《高级趋势技术分析》引言（印刷页 1 起 / PDF 第 8 页起）默认读者已经会读 K 线，本讲是前置补课。&lt;/Text&gt;&#10;        &lt;/Box&gt;&#10;    &lt;/Box&gt;&#10;    &lt;Box style={{ height: 48, flexDirection: 'row', alignItems: 'center', justifyContent: 'space-between', paddingLeft: 64, paddingRight: 64 }}&gt;&#10;        &lt;Text style={{ fontSize: 14, color: '#B9CCED' }}&gt;Brooks 价格行为学习 · 趋势卷&lt;/Text&gt;&#10;        &lt;Text style={{ fontSize: 14, color: '#B9CCED' }}&gt;04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254317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609975" y="2305050"/>
            <a:ext cx="6800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B9CCED"/>
                </a:solidFill>
                <a:latin typeface="Microsoft YaHei"/>
                <a:ea typeface="Microsoft YaHei"/>
              </a:rPr>
              <a:t>引言</a:t>
            </a:r>
            <a:r>
              <a:rPr lang="en-US" sz="1350" spc="225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350" spc="225">
                <a:solidFill>
                  <a:srgbClr val="B9CCED"/>
                </a:solidFill>
                <a:latin typeface="Microsoft YaHei"/>
                <a:ea typeface="Microsoft YaHei"/>
              </a:rPr>
              <a:t>第</a:t>
            </a:r>
            <a:r>
              <a:rPr lang="en-US" sz="1350" spc="225">
                <a:solidFill>
                  <a:srgbClr val="B9CCED"/>
                </a:solidFill>
                <a:latin typeface="Microsoft YaHei"/>
                <a:ea typeface="Microsoft YaHei"/>
              </a:rPr>
              <a:t> 1 </a:t>
            </a:r>
            <a:r>
              <a:rPr lang="zh-CN" sz="1350" spc="225">
                <a:solidFill>
                  <a:srgbClr val="B9CCED"/>
                </a:solidFill>
                <a:latin typeface="Microsoft YaHei"/>
                <a:ea typeface="Microsoft YaHei"/>
              </a:rPr>
              <a:t>讲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609975" y="2647950"/>
            <a:ext cx="6800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一根</a:t>
            </a: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 K </a:t>
            </a: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线是怎么长出来的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3609975" y="3343275"/>
            <a:ext cx="1647825" cy="247650"/>
          </a:xfrm>
          <a:prstGeom prst="roundRect">
            <a:avLst>
              <a:gd name="adj" fmla="val 23077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724275" y="338137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零基础补课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补充内容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5372100" y="3343275"/>
            <a:ext cx="1371600" cy="247650"/>
          </a:xfrm>
          <a:prstGeom prst="roundRect">
            <a:avLst>
              <a:gd name="adj" fmla="val 23077"/>
            </a:avLst>
          </a:prstGeom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486400" y="338137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D8F2"/>
                </a:solidFill>
                <a:latin typeface="Microsoft YaHei"/>
                <a:ea typeface="Microsoft YaHei"/>
              </a:rPr>
              <a:t>讲完立即回到引言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609975" y="3819525"/>
            <a:ext cx="6800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原书《高级趋势技术分析》引言（印刷页</a:t>
            </a:r>
            <a:r>
              <a:rPr lang="en-US" sz="1125">
                <a:solidFill>
                  <a:srgbClr val="B9CCED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起</a:t>
            </a:r>
            <a:r>
              <a:rPr lang="en-US" sz="1125">
                <a:solidFill>
                  <a:srgbClr val="B9CCED"/>
                </a:solidFill>
                <a:latin typeface="Microsoft YaHei"/>
                <a:ea typeface="Microsoft YaHei"/>
              </a:rPr>
              <a:t> / PDF </a:t>
            </a: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B9CCED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页起）默认读者已经会读</a:t>
            </a:r>
            <a:r>
              <a:rPr lang="en-US" sz="1125">
                <a:solidFill>
                  <a:srgbClr val="B9CCED"/>
                </a:solidFill>
                <a:latin typeface="Microsoft YaHei"/>
                <a:ea typeface="Microsoft YaHei"/>
              </a:rPr>
              <a:t> K </a:t>
            </a: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线，本讲是前置补课。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65532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82350" y="6553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72" name="" descr="&lt;Slide style={{ padding: 0, background: '#FFFFFF' }}&gt;&#10;    &lt;Box style={{ height: 80, background: '#0E3F8C', flexDirection: 'row', alignItems: 'center', justifyContent: 'space-between', paddingLeft: 40, paddingRight: 40 }}&gt;&#10;        &lt;Text style={{ fontSize: 30, color: '#FFFFFF', fontWeight: 'bold' }}&gt;本讲学习目标&lt;/Text&gt;&#10;        &lt;Text style={{ fontSize: 14, color: '#B9CCED' }}&gt;引言 · 第 1 讲 · 零基础补课&lt;/Text&gt;&#10;    &lt;/Box&gt;&#10;    &lt;Box style={{ flex: 1, padding: 28, flexDirection: 'column', gap: 18 }}&gt;&#10;        &lt;Box style={{ flex: 1, flexDirection: 'row', gap: 18 }}&gt;&#10;            {[&#10;                ['学完能做', '给出任意一根 K 线的四个数（开/收/高/低），你能说出它是什么颜色、实体从哪到哪、这段时间买方卖方谁赢了。', '#1E4FA8'],&#10;                ['本讲重点', '四个数字各对应蜡烛的哪一段：实体是开和收，影线是最高最低。', '#1E4FA8'],&#10;            ].map((c, i) =&gt; (&#10;                &lt;Box key={i} style={{ flex: 1, background: '#F7F9FC', border: '1px solid #E5E7EB', borderRadius: 10, padding: 24, justifyContent: 'center', gap: 12 }}&gt;&#10;                    &lt;Box style={{ background: c[2], borderRadius: 6, paddingLeft: 12, paddingRight: 12, paddingTop: 4, paddingBottom: 4, alignSelf: 'flex-start' }}&gt;&#10;                        &lt;Text style={{ fontSize: 16, color: '#FFFFFF', fontWeight: 'bold' }}&gt;{c[0]}&lt;/Text&gt;&#10;                    &lt;/Box&gt;&#10;                    &lt;Text style={{ fontSize: 19, color: '#1A2230', lineHeight: 1.6 }}&gt;{c[1]}&lt;/Text&gt;&#10;                &lt;/Box&gt;&#10;            ))}&#10;        &lt;/Box&gt;&#10;        &lt;Box style={{ flex: 1, flexDirection: 'row', gap: 18 }}&gt;&#10;            {[&#10;                ['本讲难点', '影线和实体的区别——&quot;到过&quot;和&quot;站住&quot;是两回事。价格冲出去又缩回来的那段，只留一根细线。', '#D9534F'],&#10;                ['预计时间', '约 15 分钟：看一遍动画（8 步），答两道随堂检查题。允许说&quot;不确定&quot;，说清哪里不确定也给分。', '#1E4FA8'],&#10;            ].map((c, i) =&gt; (&#10;                &lt;Box key={i} style={{ flex: 1, background: '#F7F9FC', border: '1px solid #E5E7EB', borderRadius: 10, padding: 24, justifyContent: 'center', gap: 12 }}&gt;&#10;                    &lt;Box style={{ background: c[2], borderRadius: 6, paddingLeft: 12, paddingRight: 12, paddingTop: 4, paddingBottom: 4, alignSelf: 'flex-start' }}&gt;&#10;                        &lt;Text style={{ fontSize: 16, color: '#FFFFFF', fontWeight: 'bold' }}&gt;{c[0]}&lt;/Text&gt;&#10;                    &lt;/Box&gt;&#10;                    &lt;Text style={{ fontSize: 19, color: '#1A2230', lineHeight: 1.6 }}&gt;{c[1]}&lt;/Text&gt;&#10;                &lt;/Box&gt;&#10;            ))}&#10;        &lt;/Box&gt;&#10;        &lt;Text style={{ fontSize: 14, color: '#8B97A8' }}&gt;先修知识：无。这是全课程第一节课，不设入门门槛。&lt;/Text&gt;&#10;    &lt;/Box&gt;&#10;    &lt;Box style={{ height: 40, flexDirection: 'row', alignItems: 'center', justifyContent: 'space-between', paddingLeft: 40, paddingRight: 40 }}&gt;&#10;        &lt;Text style={{ fontSize: 14, color: '#8B97A8' }}&gt;Brooks 价格行为学习 · 趋势卷&lt;/Text&gt;&#10;        &lt;Text style={{ fontSize: 14, color: '#1E4FA8' }}&gt;05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71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本讲学习目标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220325" y="304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引言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讲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零基础补课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266700" y="1028700"/>
            <a:ext cx="5743575" cy="2343150"/>
          </a:xfrm>
          <a:prstGeom prst="roundRect">
            <a:avLst>
              <a:gd name="adj" fmla="val 40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495300" y="1666875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17049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学完能做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95300" y="2047875"/>
            <a:ext cx="52863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给出任意一根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K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线的四个数（开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收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高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低），你能说出它是什么颜色、实体从哪到哪、这段时间买方卖方谁赢了。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181725" y="1028700"/>
            <a:ext cx="5743575" cy="2343150"/>
          </a:xfrm>
          <a:prstGeom prst="roundRect">
            <a:avLst>
              <a:gd name="adj" fmla="val 40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6410325" y="1838325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524625" y="1876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本讲重点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410325" y="2219325"/>
            <a:ext cx="5286375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四个数字各对应蜡烛的哪一段：实体是开和收，影线是最高最低。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266700" y="3543300"/>
            <a:ext cx="5743575" cy="2333625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495300" y="417195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4210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本讲难点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95300" y="4552950"/>
            <a:ext cx="52863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影线和实体的区别——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到过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站住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是两回事。价格冲出去又缩回来的那段，只留一根细线。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181725" y="3543300"/>
            <a:ext cx="5743575" cy="2333625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6410325" y="417195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524625" y="4210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预计时间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410325" y="4552950"/>
            <a:ext cx="52863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约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15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分钟：看一遍动画（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8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步），答两道随堂检查题。允许说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不确定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，说清哪里不确定也给分。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266700" y="6048375"/>
            <a:ext cx="1165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先修知识：无。这是全课程第一节课，不设入门门槛。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410950" y="6591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96" name="" descr="&lt;Slide style={{ padding: 0, background: '#F0F5FC' }}&gt;&#10;    &lt;Box style={{ flex: 1, justifyContent: 'center', alignItems: 'center', gap: 26, padding: 48 }}&gt;&#10;        &lt;Text style={{ fontSize: 22, color: '#1E4FA8', letterSpacing: 6 }}&gt;本讲唯一要记住的一句话&lt;/Text&gt;&#10;        &lt;Text style={{ fontSize: 54, color: '#1A2230', fontWeight: 'bold', textAlign: 'center', lineHeight: 1.4 }}&gt;一根 K 线 = 一场比赛的&lt;span style={{ color: '#1E4FA8' }}&gt;技术统计&lt;/span&gt;&lt;/Text&gt;&#10;        &lt;Box style={{ width: 100, height: 5, background: '#1E4FA8' }} /&gt;&#10;        &lt;Text style={{ fontSize: 22, color: '#4A5568', textAlign: 'center', lineHeight: 1.7 }}&gt;从哪开始（开） · 到哪结束（收） · 最疯到过哪（高） · 最惨到过哪（低）&lt;br/&gt;中间怎么拉锯，裁判不管 —— &lt;span style={{ color: '#D9534F', fontWeight: 'bold' }}&gt;到过不算数，停住才算数&lt;/span&gt;&lt;/Text&gt;&#10;    &lt;/Box&gt;&#10;    &lt;Box style={{ height: 48, flexDirection: 'row', alignItems: 'center', justifyContent: 'space-between', paddingLeft: 48, paddingRight: 48 }}&gt;&#10;        &lt;Text style={{ fontSize: 14, color: '#8B97A8' }}&gt;Brooks 价格行为学习 · 趋势卷&lt;/Text&gt;&#10;        &lt;Text style={{ fontSize: 14, color: '#1E4FA8' }}&gt;06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629150" y="1819275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1E4FA8"/>
                </a:solidFill>
                <a:latin typeface="Microsoft YaHei"/>
                <a:ea typeface="Microsoft YaHei"/>
              </a:rPr>
              <a:t>本讲唯一要记住的一句话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2390775" y="2324100"/>
            <a:ext cx="7419975" cy="8667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4050" b="1">
                <a:solidFill>
                  <a:srgbClr val="1A2230"/>
                </a:solidFill>
                <a:latin typeface="Microsoft YaHei"/>
                <a:ea typeface="Microsoft YaHei"/>
              </a:rPr>
              <a:t>一根</a:t>
            </a:r>
            <a:r>
              <a:rPr lang="en-US" sz="4050" b="1">
                <a:solidFill>
                  <a:srgbClr val="1A2230"/>
                </a:solidFill>
                <a:latin typeface="Microsoft YaHei"/>
                <a:ea typeface="Microsoft YaHei"/>
              </a:rPr>
              <a:t> K </a:t>
            </a:r>
            <a:r>
              <a:rPr lang="zh-CN" sz="4050" b="1">
                <a:solidFill>
                  <a:srgbClr val="1A2230"/>
                </a:solidFill>
                <a:latin typeface="Microsoft YaHei"/>
                <a:ea typeface="Microsoft YaHei"/>
              </a:rPr>
              <a:t>线</a:t>
            </a:r>
            <a:r>
              <a:rPr lang="en-US" sz="4050" b="1">
                <a:solidFill>
                  <a:srgbClr val="1A2230"/>
                </a:solidFill>
                <a:latin typeface="Microsoft YaHei"/>
                <a:ea typeface="Microsoft YaHei"/>
              </a:rPr>
              <a:t> = </a:t>
            </a:r>
            <a:r>
              <a:rPr lang="zh-CN" sz="4050" b="1">
                <a:solidFill>
                  <a:srgbClr val="1A2230"/>
                </a:solidFill>
                <a:latin typeface="Microsoft YaHei"/>
                <a:ea typeface="Microsoft YaHei"/>
              </a:rPr>
              <a:t>一场比赛的</a:t>
            </a:r>
            <a:r>
              <a:rPr lang="zh-CN" sz="4050" b="1">
                <a:solidFill>
                  <a:srgbClr val="1E4FA8"/>
                </a:solidFill>
                <a:latin typeface="Microsoft YaHei"/>
                <a:ea typeface="Microsoft YaHei"/>
              </a:rPr>
              <a:t>技术统计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619750" y="3438525"/>
            <a:ext cx="9525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2676525" y="3733800"/>
            <a:ext cx="6848475" cy="8572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从哪开始（开）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到哪结束（收）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最疯到过哪（高）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最惨到过哪（低）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中间怎么拉锯，裁判不管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到过不算数，停住才算数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7200" y="65532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334750" y="6553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04" name="" descr="&lt;Slide style={{ padding: 0, background: '#FFFFFF' }}&gt;&#10;    &lt;Box style={{ height: 80, background: '#0E3F8C', flexDirection: 'row', alignItems: 'center', justifyContent: 'space-between', paddingLeft: 40, paddingRight: 40 }}&gt;&#10;        &lt;Text style={{ fontSize: 30, color: '#FFFFFF', fontWeight: 'bold' }}&gt;阳线解剖：开 100 · 收 105 · 高 106 · 低 98&lt;/Text&gt;&#10;        &lt;Text style={{ fontSize: 14, color: '#B9CCED' }}&gt;自编示意 · 数值虚构&lt;/Text&gt;&#10;    &lt;/Box&gt;&#10;    &lt;Box style={{ flex: 1, flexDirection: 'row', padding: 24, gap: 24 }}&gt;&#10;        &lt;Box style={{ width: 560, background: '#F7F9FC', border: '1px solid #E5E7EB', borderRadius: 10, justifyContent: 'center', alignItems: 'center', padding: 12 }}&gt;&#10;            &lt;svg width={520} height={480} viewBox=&quot;0 0 520 480&quot;&gt;&#10;                &lt;g stroke=&quot;#D6DCE5&quot; strokeWidth=&quot;1&quot;&gt;&#10;                    &lt;line x1=&quot;60&quot; y1=&quot;33&quot; x2=&quot;480&quot; y2=&quot;33&quot; /&gt;&lt;line x1=&quot;60&quot; y1=&quot;100&quot; x2=&quot;480&quot; y2=&quot;100&quot; /&gt;&#10;                    &lt;line x1=&quot;60&quot; y1=&quot;167&quot; x2=&quot;480&quot; y2=&quot;167&quot; /&gt;&lt;line x1=&quot;60&quot; y1=&quot;233&quot; x2=&quot;480&quot; y2=&quot;233&quot; /&gt;&#10;                    &lt;line x1=&quot;60&quot; y1=&quot;267&quot; x2=&quot;480&quot; y2=&quot;267&quot; /&gt;&lt;line x1=&quot;60&quot; y1=&quot;333&quot; x2=&quot;480&quot; y2=&quot;333&quot; /&gt;&#10;                    &lt;line x1=&quot;60&quot; y1=&quot;400&quot; x2=&quot;480&quot; y2=&quot;400&quot; /&gt;&#10;                &lt;/g&gt;&#10;                &lt;g fill=&quot;#8B97A8&quot; fontSize=&quot;12&quot; textAnchor=&quot;end&quot;&gt;&#10;                    &lt;text x=&quot;52&quot; y=&quot;37&quot;&gt;107&lt;/text&gt;&lt;text x=&quot;52&quot; y=&quot;104&quot;&gt;105&lt;/text&gt;&lt;text x=&quot;52&quot; y=&quot;171&quot;&gt;103&lt;/text&gt;&#10;                    &lt;text x=&quot;52&quot; y=&quot;237&quot;&gt;101&lt;/text&gt;&lt;text x=&quot;52&quot; y=&quot;271&quot;&gt;100&lt;/text&gt;&lt;text x=&quot;52&quot; y=&quot;337&quot;&gt;98&lt;/text&gt;&#10;                    &lt;text x=&quot;52&quot; y=&quot;404&quot;&gt;96&lt;/text&gt;&#10;                &lt;/g&gt;&#10;                &lt;line x1=&quot;260&quot; y1=&quot;67&quot; x2=&quot;260&quot; y2=&quot;100&quot; stroke=&quot;#D43A31&quot; strokeWidth=&quot;4&quot; /&gt;&#10;                &lt;rect x=&quot;220&quot; y=&quot;100&quot; width=&quot;80&quot; height=&quot;167&quot; fill=&quot;#D43A31&quot; /&gt;&#10;                &lt;line x1=&quot;260&quot; y1=&quot;267&quot; x2=&quot;260&quot; y2=&quot;333&quot; stroke=&quot;#D43A31&quot; strokeWidth=&quot;4&quot; /&gt;&#10;                &lt;text x=&quot;312&quot; y=&quot;71&quot; fill=&quot;#4A5568&quot; fontSize=&quot;14&quot;&gt;最高 106（到过，没站住）&lt;/text&gt;&#10;                &lt;text x=&quot;312&quot; y=&quot;106&quot; fill=&quot;#1A2230&quot; fontSize=&quot;14&quot; fontWeight=&quot;bold&quot;&gt;收盘 105&lt;/text&gt;&#10;                &lt;text x=&quot;312&quot; y=&quot;184&quot; fill=&quot;#D43A31&quot; fontSize=&quot;14&quot; fontWeight=&quot;bold&quot;&gt;实体：开 100 到 收 105&lt;/text&gt;&#10;                &lt;text x=&quot;312&quot; y=&quot;271&quot; fill=&quot;#1A2230&quot; fontSize=&quot;14&quot; fontWeight=&quot;bold&quot;&gt;开盘 100&lt;/text&gt;&#10;                &lt;text x=&quot;312&quot; y=&quot;337&quot; fill=&quot;#4A5568&quot; fontSize=&quot;14&quot;&gt;最低 98（被砸下去，被接住）&lt;/text&gt;&#10;                &lt;text x=&quot;100&quot; y=&quot;450&quot; fill=&quot;#8B97A8&quot; fontSize=&quot;13&quot;&gt;红色 = 阳线：收高于开，这 5 分钟买方赢了&lt;/text&gt;&#10;            &lt;/svg&gt;&#10;        &lt;/Box&gt;&#10;        &lt;Box style={{ flex: 1, flexDirection: 'column', gap: 12 }}&gt;&#10;            {[&#10;                ['1', '5 分钟开始，第一笔成交 100 —— 开盘价'],&#10;                ['2', '有人着急卖，价格被砸到 98，有人接住 —— 最低价'],&#10;                ['3', '买方反攻，一口气推到 106，推不动了 —— 最高价'],&#10;                ['4', '时间到，最后停在 105 —— 收盘价'],&#10;            ].map((s, i) =&gt; (&#10;                &lt;Box key={i} style={{ flexDirection: 'row', alignItems: 'center', gap: 14, background: '#F7F9FC', border: '1px solid #E5E7EB', borderRadius: 8, padding: 14 }}&gt;&#10;                    &lt;Box style={{ width: 30, height: 30, background: '#1E4FA8', borderRadius: 6, justifyContent: 'center', alignItems: 'center' }}&gt;&#10;                        &lt;Text style={{ fontSize: 16, color: '#FFFFFF', fontWeight: 'bold' }}&gt;{s[0]}&lt;/Text&gt;&#10;                    &lt;/Box&gt;&#10;                    &lt;Text style={{ flex: 1, fontSize: 17, color: '#1A2230', lineHeight: 1.45 }}&gt;{s[1]}&lt;/Text&gt;&#10;                &lt;/Box&gt;&#10;            ))}&#10;            &lt;Box style={{ flex: 1, background: '#E8EFF8', borderRadius: 8, padding: 18, justifyContent: 'center' }}&gt;&#10;                &lt;Text style={{ fontSize: 19, color: '#0E3F8C', fontWeight: 'bold', lineHeight: 1.6 }}&gt;这根 K 线只记 4 个数。粗块叫实体（站住的部分），细线叫影线（到过、没站住的部分）。&lt;/Text&gt;&#10;            &lt;/Box&gt;&#10;        &lt;/Box&gt;&#10;    &lt;/Box&gt;&#10;    &lt;Box style={{ height: 40, flexDirection: 'row', alignItems: 'center', justifyContent: 'space-between', paddingLeft: 40, paddingRight: 40 }}&gt;&#10;        &lt;Text style={{ fontSize: 14, color: '#8B97A8' }}&gt;Brooks 价格行为学习 · 趋势卷&lt;/Text&gt;&#10;        &lt;Text style={{ fontSize: 14, color: '#1E4FA8' }}&gt;07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4006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阳线解剖：开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100 ·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收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105 ·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高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106 ·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98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620375" y="304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自编示意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数值虚构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228600" y="990600"/>
            <a:ext cx="5334000" cy="5257800"/>
          </a:xfrm>
          <a:prstGeom prst="roundRect">
            <a:avLst>
              <a:gd name="adj" fmla="val 181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9100" y="1333500"/>
            <a:ext cx="4953000" cy="4572000"/>
          </a:xfrm>
          <a:prstGeom prst="rect">
            <a:avLst/>
          </a:prstGeom>
          <a:ln/>
        </p:spPr>
      </p:pic>
      <p:sp>
        <p:nvSpPr>
          <p:cNvPr id="311" name=""/>
          <p:cNvSpPr/>
          <p:nvPr/>
        </p:nvSpPr>
        <p:spPr>
          <a:xfrm rot="0" flipH="0" flipV="0">
            <a:off x="5791200" y="990600"/>
            <a:ext cx="6172200" cy="552450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5924550" y="11239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029325" y="11715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343650" y="1123950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5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分钟开始，第一笔成交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100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开盘价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791200" y="1657350"/>
            <a:ext cx="6172200" cy="552450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5924550" y="17907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29325" y="183832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343650" y="1790700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有人着急卖，价格被砸到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98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，有人接住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最低价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5791200" y="2324100"/>
            <a:ext cx="6172200" cy="552450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5924550" y="245745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029325" y="25050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343650" y="2457450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买方反攻，一口气推到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106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，推不动了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最高价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5791200" y="2990850"/>
            <a:ext cx="6172200" cy="552450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5924550" y="31242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29325" y="317182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343650" y="3124200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时间到，最后停在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105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收盘价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791200" y="3657600"/>
            <a:ext cx="6172200" cy="2590800"/>
          </a:xfrm>
          <a:prstGeom prst="roundRect">
            <a:avLst>
              <a:gd name="adj" fmla="val 294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962650" y="4610100"/>
            <a:ext cx="58293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这根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K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线只记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 4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个数。粗块叫实体（站住的部分），细线叫影线（到过、没站住的部分）。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1410950" y="6591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31" name="" descr="&lt;Slide style={{ padding: 0, background: '#FFFFFF' }}&gt;&#10;    &lt;Box style={{ height: 80, background: '#0E3F8C', flexDirection: 'row', alignItems: 'center', justifyContent: 'space-between', paddingLeft: 40, paddingRight: 40 }}&gt;&#10;        &lt;Text style={{ fontSize: 30, color: '#FFFFFF', fontWeight: 'bold' }}&gt;阴线对照：影线 vs 实体&lt;/Text&gt;&#10;        &lt;Text style={{ fontSize: 14, color: '#B9CCED' }}&gt;自编示意 · 数值虚构&lt;/Text&gt;&#10;    &lt;/Box&gt;&#10;    &lt;Box style={{ flex: 1, flexDirection: 'row', padding: 24, gap: 24 }}&gt;&#10;        &lt;Box style={{ flex: 1.4, flexDirection: 'column', gap: 12 }}&gt;&#10;            &lt;Box style={{ background: '#F7F9FC', border: '1px solid #E5E7EB', borderRadius: 8, padding: 18, flex: 1 }}&gt;&#10;                &lt;Text style={{ fontSize: 19, color: '#1E4FA8', fontWeight: 'bold' }}&gt;实体 = 站住的部分&lt;/Text&gt;&#10;                &lt;Text style={{ fontSize: 17, color: '#1A2230', lineHeight: 1.6, marginTop: 6 }}&gt;从开盘价到收盘价这一段。时间结束时价格停在这里，是多空争夺后&quot;落袋&quot;的结果。&lt;/Text&gt;&#10;            &lt;/Box&gt;&#10;            &lt;Box style={{ background: '#F7F9FC', border: '1px solid #E5E7EB', borderRadius: 8, padding: 18, flex: 1 }}&gt;&#10;                &lt;Text style={{ fontSize: 19, color: '#D9534F', fontWeight: 'bold' }}&gt;影线 = 到过、没站住&lt;/Text&gt;&#10;                &lt;Text style={{ fontSize: 17, color: '#1A2230', lineHeight: 1.6, marginTop: 6 }}&gt;冲出去又被推回来的那段。它不是没用——它记录了哪里有人阻击、哪里有人接货。&lt;/Text&gt;&#10;            &lt;/Box&gt;&#10;            &lt;Box style={{ background: '#E8EFF8', borderRadius: 8, padding: 18, flex: 1 }}&gt;&#10;                &lt;Text style={{ fontSize: 19, color: '#0E3F8C', fontWeight: 'bold' }}&gt;判断输赢只看开和收&lt;/Text&gt;&#10;                &lt;Text style={{ fontSize: 17, color: '#1A2230', lineHeight: 1.6, marginTop: 6 }}&gt;收高于开 → 红（阳线，买方赢）；收低于开 → 绿（阴线，卖方赢）。中途冲多高都不算赢。&lt;/Text&gt;&#10;            &lt;/Box&gt;&#10;        &lt;/Box&gt;&#10;        &lt;Box style={{ flex: 1, background: '#F7F9FC', border: '1px solid #E5E7EB', borderRadius: 10, justifyContent: 'center', alignItems: 'center', padding: 12 }}&gt;&#10;            &lt;svg width={380} height={480} viewBox=&quot;0 0 380 480&quot;&gt;&#10;                &lt;g stroke=&quot;#D6DCE5&quot; strokeWidth=&quot;1&quot;&gt;&#10;                    &lt;line x1=&quot;50&quot; y1=&quot;33&quot; x2=&quot;360&quot; y2=&quot;33&quot; /&gt;&lt;line x1=&quot;50&quot; y1=&quot;100&quot; x2=&quot;360&quot; y2=&quot;100&quot; /&gt;&#10;                    &lt;line x1=&quot;50&quot; y1=&quot;200&quot; x2=&quot;360&quot; y2=&quot;200&quot; /&gt;&lt;line x1=&quot;50&quot; y1=&quot;333&quot; x2=&quot;360&quot; y2=&quot;333&quot; /&gt;&#10;                    &lt;line x1=&quot;50&quot; y1=&quot;367&quot; x2=&quot;360&quot; y2=&quot;367&quot; /&gt;&#10;                &lt;/g&gt;&#10;                &lt;g fill=&quot;#8B97A8&quot; fontSize=&quot;12&quot; textAnchor=&quot;end&quot;&gt;&#10;                    &lt;text x=&quot;42&quot; y=&quot;37&quot;&gt;107&lt;/text&gt;&lt;text x=&quot;42&quot; y=&quot;104&quot;&gt;105&lt;/text&gt;&lt;text x=&quot;42&quot; y=&quot;337&quot;&gt;98&lt;/text&gt;&lt;text x=&quot;42&quot; y=&quot;371&quot;&gt;97&lt;/text&gt;&#10;                &lt;/g&gt;&#10;                &lt;line x1=&quot;170&quot; y1=&quot;33&quot; x2=&quot;170&quot; y2=&quot;100&quot; stroke=&quot;#2FA35A&quot; strokeWidth=&quot;4&quot; /&gt;&#10;                &lt;rect x=&quot;134&quot; y=&quot;100&quot; width=&quot;72&quot; height=&quot;233&quot; fill=&quot;#2FA35A&quot; /&gt;&#10;                &lt;line x1=&quot;170&quot; y1=&quot;333&quot; x2=&quot;170&quot; y2=&quot;367&quot; stroke=&quot;#2FA35A&quot; strokeWidth=&quot;4&quot; /&gt;&#10;                &lt;text x=&quot;216&quot; y=&quot;40&quot; fill=&quot;#4A5568&quot; fontSize=&quot;13&quot;&gt;最高 107&lt;/text&gt;&#10;                &lt;text x=&quot;216&quot; y=&quot;106&quot; fill=&quot;#1A2230&quot; fontSize=&quot;13&quot; fontWeight=&quot;bold&quot;&gt;开盘 105&lt;/text&gt;&#10;                &lt;text x=&quot;216&quot; y=&quot;337&quot; fill=&quot;#1A2230&quot; fontSize=&quot;13&quot; fontWeight=&quot;bold&quot;&gt;收盘 98&lt;/text&gt;&#10;                &lt;text x=&quot;216&quot; y=&quot;371&quot; fill=&quot;#4A5568&quot; fontSize=&quot;13&quot;&gt;最低 97&lt;/text&gt;&#10;                &lt;text x=&quot;76&quot; y=&quot;450&quot; fill=&quot;#8B97A8&quot; fontSize=&quot;13&quot;&gt;绿色 = 阴线：收低于开，卖方赢了&lt;/text&gt;&#10;            &lt;/svg&gt;&#10;        &lt;/Box&gt;&#10;    &lt;/Box&gt;&#10;    &lt;Box style={{ height: 40, flexDirection: 'row', alignItems: 'center', justifyContent: 'space-between', paddingLeft: 40, paddingRight: 40 }}&gt;&#10;        &lt;Text style={{ fontSize: 14, color: '#8B97A8' }}&gt;Brooks 价格行为学习 · 趋势卷&lt;/Text&gt;&#10;        &lt;Text style={{ fontSize: 14, color: '#1E4FA8' }}&gt;08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057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阴线对照：影线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vs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实体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0620375" y="3048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自编示意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数值虚构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228600" y="990600"/>
            <a:ext cx="6715125" cy="1571625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00050" y="1162050"/>
            <a:ext cx="6372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实体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 =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站住的部分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00050" y="1438275"/>
            <a:ext cx="63722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从开盘价到收盘价这一段。时间结束时价格停在这里，是多空争夺后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落袋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的结果。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228600" y="2676525"/>
            <a:ext cx="6715125" cy="1571625"/>
          </a:xfrm>
          <a:prstGeom prst="roundRect">
            <a:avLst>
              <a:gd name="adj" fmla="val 484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00050" y="2847975"/>
            <a:ext cx="6372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影线</a:t>
            </a: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 = 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到过、没站住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00050" y="3124200"/>
            <a:ext cx="63722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冲出去又被推回来的那段。它不是没用——它记录了哪里有人阻击、哪里有人接货。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228600" y="4362450"/>
            <a:ext cx="6715125" cy="1885950"/>
          </a:xfrm>
          <a:prstGeom prst="roundRect">
            <a:avLst>
              <a:gd name="adj" fmla="val 404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00050" y="4533900"/>
            <a:ext cx="6372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判断输赢只看开和收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00050" y="4810125"/>
            <a:ext cx="63722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收高于开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红（阳线，买方赢）；收低于开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绿（阴线，卖方赢）。中途冲多高都不算赢。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172325" y="990600"/>
            <a:ext cx="4791075" cy="5257800"/>
          </a:xfrm>
          <a:prstGeom prst="roundRect">
            <a:avLst>
              <a:gd name="adj" fmla="val 198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62875" y="1333500"/>
            <a:ext cx="3619500" cy="4572000"/>
          </a:xfrm>
          <a:prstGeom prst="rect">
            <a:avLst/>
          </a:prstGeom>
          <a:ln/>
        </p:spPr>
      </p:pic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410950" y="6591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49" name="" descr="&lt;Slide style={{ padding: 0, background: '#FFFFFF' }}&gt;&#10;    &lt;Box style={{ height: 80, background: '#0E3F8C', flexDirection: 'row', alignItems: 'center', justifyContent: 'space-between', paddingLeft: 40, paddingRight: 40 }}&gt;&#10;        &lt;Text style={{ fontSize: 30, color: '#FFFFFF', fontWeight: 'bold' }}&gt;随堂检查（满分 100）&lt;/Text&gt;&#10;        &lt;Text style={{ fontSize: 14, color: '#B9CCED' }}&gt;EX-L01 · 评分标准作答前已公布&lt;/Text&gt;&#10;    &lt;/Box&gt;&#10;    &lt;Box style={{ flex: 1, padding: 26, flexDirection: 'column', gap: 18 }}&gt;&#10;        &lt;Box style={{ flex: 1.25, background: '#F7F9FC', border: '1px solid #E5E7EB', borderRadius: 10, padding: 24, flexDirection: 'row', gap: 24 }}&gt;&#10;            &lt;Box style={{ width: 200, justifyContent: 'center', gap: 10 }}&gt;&#10;                &lt;Box style={{ background: '#1E4FA8', borderRadius: 6, paddingLeft: 12, paddingRight: 12, paddingTop: 4, paddingBottom: 4, alignSelf: 'flex-start' }}&gt;&#10;                    &lt;Text style={{ fontSize: 16, color: '#FFFFFF', fontWeight: 'bold' }}&gt;第 1 题 · 60 分&lt;/Text&gt;&#10;                &lt;/Box&gt;&#10;                &lt;Text style={{ fontSize: 26, color: '#1A2230', fontWeight: 'bold', lineHeight: 1.5 }}&gt;开 2050&lt;br/&gt;收 2044&lt;br/&gt;高 2053&lt;br/&gt;低 2041&lt;/Text&gt;&#10;            &lt;/Box&gt;&#10;            &lt;Box style={{ flex: 1, justifyContent: 'center', gap: 12 }}&gt;&#10;                {['这根 K 线是阳线还是阴线？', '实体从哪个数到哪个数？', '上影线到哪个数？下影线到哪个数？', '这 5 分钟买方卖方谁赢了？说理由。'].map((q, i) =&gt; (&#10;                    &lt;Box key={i} style={{ flexDirection: 'row', alignItems: 'center', gap: 12 }}&gt;&#10;                        &lt;Box style={{ width: 26, height: 26, background: '#E8EFF8', borderRadius: 5, justifyContent: 'center', alignItems: 'center' }}&gt;&#10;                            &lt;Text style={{ fontSize: 14, color: '#1E4FA8', fontWeight: 'bold' }}&gt;{['①', '②', '③', '④'][i]}&lt;/Text&gt;&#10;                        &lt;/Box&gt;&#10;                        &lt;Text style={{ fontSize: 18, color: '#1A2230' }}&gt;{q}&lt;/Text&gt;&#10;                    &lt;/Box&gt;&#10;                ))}&#10;            &lt;/Box&gt;&#10;        &lt;/Box&gt;&#10;        &lt;Box style={{ flex: 1, background: '#F0F5FC', borderRadius: 10, padding: 24, flexDirection: 'row', gap: 24 }}&gt;&#10;            &lt;Box style={{ width: 200, justifyContent: 'center' }}&gt;&#10;                &lt;Box style={{ background: '#1E4FA8', borderRadius: 6, paddingLeft: 12, paddingRight: 12, paddingTop: 4, paddingBottom: 4, alignSelf: 'flex-start' }}&gt;&#10;                    &lt;Text style={{ fontSize: 16, color: '#FFFFFF', fontWeight: 'bold' }}&gt;第 2 题 · 40 分&lt;/Text&gt;&#10;                &lt;/Box&gt;&#10;            &lt;/Box&gt;&#10;            &lt;Box style={{ flex: 1, justifyContent: 'center', gap: 10 }}&gt;&#10;                &lt;Text style={{ fontSize: 20, color: '#1A2230', lineHeight: 1.55 }}&gt;不看任何资料，用你自己的话，一句话说清：&lt;span style={{ fontWeight: 'bold', color: '#0E3F8C' }}&gt;影线说明什么？&lt;/span&gt;&lt;/Text&gt;&#10;                &lt;Text style={{ fontSize: 14, color: '#4A5568', lineHeight: 1.6 }}&gt;允许答&quot;不确定&quot;，说清哪里不确定也给分。参考答案单独存放在 EX-L01-answers.md，作答前不看。&lt;/Text&gt;&#10;            &lt;/Box&gt;&#10;        &lt;/Box&gt;&#10;    &lt;/Box&gt;&#10;    &lt;Box style={{ height: 40, flexDirection: 'row', alignItems: 'center', justifyContent: 'space-between', paddingLeft: 40, paddingRight: 40 }}&gt;&#10;        &lt;Text style={{ fontSize: 14, color: '#8B97A8' }}&gt;Brooks 价格行为学习 · 趋势卷&lt;/Text&gt;&#10;        &lt;Text style={{ fontSize: 14, color: '#1E4FA8' }}&gt;09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847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随堂检查（满分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 100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906000" y="30480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EX-L01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评分标准作答前已公布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247650" y="1009650"/>
            <a:ext cx="11696700" cy="3314700"/>
          </a:xfrm>
          <a:prstGeom prst="roundRect">
            <a:avLst>
              <a:gd name="adj" fmla="val 287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476250" y="1590675"/>
            <a:ext cx="1209675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90550" y="1628775"/>
            <a:ext cx="98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1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题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60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76250" y="1952625"/>
            <a:ext cx="1905000" cy="1790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开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2050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收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2044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高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2053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低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2041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2609850" y="2000250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2667000" y="20478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2971800" y="2019300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K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线是阳线还是阴线？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2609850" y="2362200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2667000" y="24098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2971800" y="2381250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实体从哪个数到哪个数？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2609850" y="2724150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2667000" y="27717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2971800" y="2743200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上影线到哪个数？下影线到哪个数？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2609850" y="3086100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2667000" y="31337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E4FA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2971800" y="3105150"/>
            <a:ext cx="2771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5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分钟买方卖方谁赢了？说理由。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247650" y="4495800"/>
            <a:ext cx="11696700" cy="1733550"/>
          </a:xfrm>
          <a:prstGeom prst="roundRect">
            <a:avLst>
              <a:gd name="adj" fmla="val 549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476250" y="5229225"/>
            <a:ext cx="1209675" cy="266700"/>
          </a:xfrm>
          <a:prstGeom prst="roundRect">
            <a:avLst>
              <a:gd name="adj" fmla="val 2142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90550" y="5267325"/>
            <a:ext cx="98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2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题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· 40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2609850" y="5010150"/>
            <a:ext cx="910590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不看任何资料，用你自己的话，一句话说清：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影线说明什么？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609850" y="5467350"/>
            <a:ext cx="9105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允许答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不确定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，说清哪里不确定也给分。参考答案单独存放在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EX-L01-answers.md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，作答前不看。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410950" y="6591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3" name="" descr="&lt;Slide style={{ padding: 0, background: '#FFFFFF' }}&gt;&#10;    &lt;Box style={{ height: 80, background: '#0E3F8C', flexDirection: 'row', alignItems: 'center', justifyContent: 'space-between', paddingLeft: 40, paddingRight: 40 }}&gt;&#10;        &lt;Text style={{ fontSize: 30, color: '#FFFFFF', fontWeight: 'bold' }}&gt;术语大白话（随时回来查）&lt;/Text&gt;&#10;        &lt;Text style={{ fontSize: 14, color: '#B9CCED' }}&gt;本讲 7 个 · 一句一行&lt;/Text&gt;&#10;    &lt;/Box&gt;&#10;    &lt;Box style={{ flex: 1, flexDirection: 'row', padding: 26, gap: 24 }}&gt;&#10;        &lt;Box style={{ width: 260, background: '#0E3F8C', borderRadius: 10, padding: 26, justifyContent: 'center', gap: 12 }}&gt;&#10;            &lt;Text style={{ fontSize: 26, color: '#FFFFFF', fontWeight: 'bold', lineHeight: 1.5 }}&gt;黑话&lt;br/&gt;翻译器&lt;/Text&gt;&#10;            &lt;Text style={{ fontSize: 15, color: '#B9CCED', lineHeight: 1.7 }}&gt;以后每讲的新术语都会这样翻一遍，并汇总进总术语表。&lt;/Text&gt;&#10;        &lt;/Box&gt;&#10;        &lt;Box style={{ flex: 1, flexDirection: 'column', gap: 8 }}&gt;&#10;            {[&#10;                ['开盘价 open', '这段时间的第一笔成交价'],&#10;                ['收盘价 close', '这段时间的最后一笔成交价'],&#10;                ['最高价 high / 最低价 low', '这段时间到过的两个极端价格'],&#10;                ['实体 body', '开盘价到收盘价之间那个粗块'],&#10;                ['影线 wick', '实体上下伸出的细线：到过、没站住的地方'],&#10;                ['阳线 / 阴线', '收高于开（红）/ 收低于开（绿）'],&#10;                ['K 线 candlestick', '把一段时间浓缩成的这根小柱子'],&#10;            ].map((t, i) =&gt; (&#10;                &lt;Box key={i} style={{ flex: 1, flexDirection: 'row', alignItems: 'center', gap: 14, background: '#F7F9FC', border: '1px solid #E5E7EB', borderRadius: 8, paddingLeft: 16, paddingRight: 16 }}&gt;&#10;                    &lt;Text style={{ fontSize: 16, color: '#1E4FA8', fontWeight: 'bold', width: 210 }}&gt;{t[0]}&lt;/Text&gt;&#10;                    &lt;Text style={{ flex: 1, fontSize: 16, color: '#1A2230' }}&gt;{t[1]}&lt;/Text&gt;&#10;                &lt;/Box&gt;&#10;            ))}&#10;        &lt;/Box&gt;&#10;    &lt;/Box&gt;&#10;    &lt;Box style={{ height: 40, flexDirection: 'row', alignItems: 'center', justifyContent: 'space-between', paddingLeft: 40, paddingRight: 40 }}&gt;&#10;        &lt;Text style={{ fontSize: 14, color: '#8B97A8' }}&gt;Brooks 价格行为学习 · 趋势卷&lt;/Text&gt;&#10;        &lt;Text style={{ fontSize: 14, color: '#1E4FA8' }}&gt;10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术语大白话（随时回来查）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601325" y="304800"/>
            <a:ext cx="1209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本讲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7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一句一行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247650" y="1009650"/>
            <a:ext cx="2476500" cy="5219700"/>
          </a:xfrm>
          <a:prstGeom prst="roundRect">
            <a:avLst>
              <a:gd name="adj" fmla="val 384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95300" y="2819400"/>
            <a:ext cx="19812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黑话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翻译器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95300" y="3829050"/>
            <a:ext cx="1981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B9CCED"/>
                </a:solidFill>
                <a:latin typeface="Microsoft YaHei"/>
                <a:ea typeface="Microsoft YaHei"/>
              </a:rPr>
              <a:t>以后每讲的新术语都会这样翻一遍，并汇总进总术语表。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2952750" y="1009650"/>
            <a:ext cx="8991600" cy="676275"/>
          </a:xfrm>
          <a:prstGeom prst="roundRect">
            <a:avLst>
              <a:gd name="adj" fmla="val 1126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105150" y="12573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开盘价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open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238750" y="1257300"/>
            <a:ext cx="655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这段时间的第一笔成交价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2952750" y="1762125"/>
            <a:ext cx="8991600" cy="68580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105150" y="20097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收盘价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close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238750" y="2009775"/>
            <a:ext cx="655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这段时间的最后一笔成交价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2952750" y="2524125"/>
            <a:ext cx="8991600" cy="676275"/>
          </a:xfrm>
          <a:prstGeom prst="roundRect">
            <a:avLst>
              <a:gd name="adj" fmla="val 1126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105150" y="277177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最高价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high /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最低价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low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238750" y="2771775"/>
            <a:ext cx="655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这段时间到过的两个极端价格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2952750" y="3276600"/>
            <a:ext cx="8991600" cy="68580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105150" y="35242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实体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body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238750" y="3524250"/>
            <a:ext cx="655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开盘价到收盘价之间那个粗块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2952750" y="4038600"/>
            <a:ext cx="8991600" cy="676275"/>
          </a:xfrm>
          <a:prstGeom prst="roundRect">
            <a:avLst>
              <a:gd name="adj" fmla="val 1126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105150" y="428625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影线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wick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238750" y="4286250"/>
            <a:ext cx="655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实体上下伸出的细线：到过、没站住的地方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2952750" y="4791075"/>
            <a:ext cx="8991600" cy="685800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105150" y="50387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阳线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/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阴线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238750" y="5038725"/>
            <a:ext cx="655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收高于开（红）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收低于开（绿）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2952750" y="5553075"/>
            <a:ext cx="8991600" cy="676275"/>
          </a:xfrm>
          <a:prstGeom prst="roundRect">
            <a:avLst>
              <a:gd name="adj" fmla="val 1126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105150" y="58007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K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线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 candlestick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238750" y="5800725"/>
            <a:ext cx="655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把一段时间浓缩成的这根小柱子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Brooks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价格行为学习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趋势卷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410950" y="65913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4" name="" descr="&lt;Slide style={{ padding: 0, background: '#0E3F8C' }}&gt;&#10;    &lt;Box style={{ flex: 1, justifyContent: 'center', paddingLeft: 64, paddingRight: 64, gap: 18 }}&gt;&#10;        &lt;Text style={{ fontSize: 20, color: '#B9CCED', letterSpacing: 4 }}&gt;补课结束 · 回到原书&lt;/Text&gt;&#10;        &lt;Text style={{ fontSize: 52, color: '#FFFFFF', fontWeight: 'bold' }}&gt;下一步：引言正文&lt;/Text&gt;&#10;        &lt;Text style={{ fontSize: 22, color: '#C9D8F2', lineHeight: 1.6 }}&gt;作者阿尔·布鲁克斯是谁 ｜ 这套书三本怎么分工：《趋势》《波段》《反转》&lt;/Text&gt;&#10;        &lt;Box style={{ flexDirection: 'row', gap: 12, marginTop: 12 }}&gt;&#10;            &lt;Box style={{ background: '#FFC107', borderRadius: 6, paddingLeft: 14, paddingRight: 14, paddingTop: 6, paddingBottom: 6 }}&gt;&#10;                &lt;Text style={{ fontSize: 16, color: '#1A2230', fontWeight: 'bold' }}&gt;当前状态：第 1 讲随堂检查待作答&lt;/Text&gt;&#10;            &lt;/Box&gt;&#10;            &lt;Box style={{ border: '1px solid #3D7BD9', borderRadius: 6, paddingLeft: 14, paddingRight: 14, paddingTop: 6, paddingBottom: 6 }}&gt;&#10;                &lt;Text style={{ fontSize: 16, color: '#C9D8F2' }}&gt;答完两题 → 进入引言正文&lt;/Text&gt;&#10;            &lt;/Box&gt;&#10;        &lt;/Box&gt;&#10;    &lt;/Box&gt;&#10;    &lt;Box style={{ height: 56, background: '#12336E', flexDirection: 'row', alignItems: 'center', justifyContent: 'space-between', paddingLeft: 64, paddingRight: 64 }}&gt;&#10;        &lt;Text style={{ fontSize: 14, color: '#B9CCED' }}&gt;个人学习笔记 · CC BY-NC 4.0 · 原书版权归作者与出版方所有&lt;/Text&gt;&#10;        &lt;Text style={{ fontSize: 14, color: '#B9CCED' }}&gt;11 / 11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207645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B9CCED"/>
                </a:solidFill>
                <a:latin typeface="Microsoft YaHei"/>
                <a:ea typeface="Microsoft YaHei"/>
              </a:rPr>
              <a:t>补课结束</a:t>
            </a:r>
            <a:r>
              <a:rPr lang="en-US" sz="1500" spc="300">
                <a:solidFill>
                  <a:srgbClr val="B9CCED"/>
                </a:solidFill>
                <a:latin typeface="Microsoft YaHei"/>
                <a:ea typeface="Microsoft YaHei"/>
              </a:rPr>
              <a:t> · </a:t>
            </a:r>
            <a:r>
              <a:rPr lang="zh-CN" sz="1500" spc="300">
                <a:solidFill>
                  <a:srgbClr val="B9CCED"/>
                </a:solidFill>
                <a:latin typeface="Microsoft YaHei"/>
                <a:ea typeface="Microsoft YaHei"/>
              </a:rPr>
              <a:t>回到原书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2476500"/>
            <a:ext cx="109728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下一步：引言正文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1097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C9D8F2"/>
                </a:solidFill>
                <a:latin typeface="Microsoft YaHei"/>
                <a:ea typeface="Microsoft YaHei"/>
              </a:rPr>
              <a:t>作者阿尔·布鲁克斯是谁</a:t>
            </a:r>
            <a:r>
              <a:rPr lang="en-US" sz="1650">
                <a:solidFill>
                  <a:srgbClr val="C9D8F2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C9D8F2"/>
                </a:solidFill>
                <a:latin typeface="Microsoft YaHei"/>
                <a:ea typeface="Microsoft YaHei"/>
              </a:rPr>
              <a:t>｜</a:t>
            </a:r>
            <a:r>
              <a:rPr lang="en-US" sz="1650">
                <a:solidFill>
                  <a:srgbClr val="C9D8F2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C9D8F2"/>
                </a:solidFill>
                <a:latin typeface="Microsoft YaHei"/>
                <a:ea typeface="Microsoft YaHei"/>
              </a:rPr>
              <a:t>这套书三本怎么分工：《趋势》《波段》《反转》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3943350"/>
            <a:ext cx="2571750" cy="304800"/>
          </a:xfrm>
          <a:prstGeom prst="roundRect">
            <a:avLst>
              <a:gd name="adj" fmla="val 18750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42950" y="4000500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当前状态：第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讲随堂检查待作答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295650" y="3943350"/>
            <a:ext cx="2028825" cy="304800"/>
          </a:xfrm>
          <a:prstGeom prst="roundRect">
            <a:avLst>
              <a:gd name="adj" fmla="val 18750"/>
            </a:avLst>
          </a:prstGeom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429000" y="4000500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8F2"/>
                </a:solidFill>
                <a:latin typeface="Microsoft YaHei"/>
                <a:ea typeface="Microsoft YaHei"/>
              </a:rPr>
              <a:t>答完两题</a:t>
            </a:r>
            <a:r>
              <a:rPr lang="en-US" sz="1200">
                <a:solidFill>
                  <a:srgbClr val="C9D8F2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C9D8F2"/>
                </a:solidFill>
                <a:latin typeface="Microsoft YaHei"/>
                <a:ea typeface="Microsoft YaHei"/>
              </a:rPr>
              <a:t>进入引言正文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0" y="6324600"/>
            <a:ext cx="12192000" cy="533400"/>
          </a:xfrm>
          <a:prstGeom prst="rect">
            <a:avLst/>
          </a:prstGeom>
          <a:solidFill>
            <a:srgbClr val="12336E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629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个人学习笔记</a:t>
            </a: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 · CC BY-NC 4.0 · </a:t>
            </a:r>
            <a:r>
              <a:rPr lang="zh-CN" sz="1050">
                <a:solidFill>
                  <a:srgbClr val="B9CCED"/>
                </a:solidFill>
                <a:latin typeface="Microsoft YaHei"/>
                <a:ea typeface="Microsoft YaHei"/>
              </a:rPr>
              <a:t>原书版权归作者与出版方所有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191875" y="65151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CED"/>
                </a:solidFill>
                <a:latin typeface="Microsoft YaHei"/>
                <a:ea typeface="Microsoft YaHei"/>
              </a:rPr>
              <a:t>11 / 11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58" name="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12336E"/>
          </a:solidFill>
          <a:ln>
            <a:noFill/>
          </a:ln>
        </p:spPr>
        <p:txBody>
          <a:bodyPr/>
          <a:p/>
        </p:txBody>
      </p:sp>
      <p:sp>
        <p:nvSpPr>
          <p:cNvPr id="59" name=""/>
          <p:cNvSpPr/>
          <p:nvPr/>
        </p:nvSpPr>
        <p:spPr>
          <a:xfrm>
            <a:off x="3810000" y="3175000"/>
            <a:ext cx="3175000" cy="355600"/>
          </a:xfrm>
          <a:prstGeom prst="roundRect">
            <a:avLst>
              <a:gd name="adj" fmla="val 4376"/>
            </a:avLst>
          </a:prstGeom>
          <a:solidFill>
            <a:srgbClr val="FFC107"/>
          </a:solidFill>
          <a:ln>
            <a:noFill/>
          </a:ln>
        </p:spPr>
        <p:txBody>
          <a:bodyPr/>
          <a:p/>
        </p:txBody>
      </p:sp>
      <p:sp>
        <p:nvSpPr>
          <p:cNvPr id="60" name=""/>
          <p:cNvSpPr/>
          <p:nvPr/>
        </p:nvSpPr>
        <p:spPr>
          <a:xfrm>
            <a:off x="762000" y="1397000"/>
            <a:ext cx="2794000" cy="190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0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1" name=""/>
          <p:cNvSpPr/>
          <p:nvPr/>
        </p:nvSpPr>
        <p:spPr>
          <a:xfrm>
            <a:off x="3810000" y="177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B9CCED"/>
                </a:solidFill>
                <a:latin typeface="Microsoft YaHei"/>
                <a:ea typeface="Microsoft YaHei"/>
              </a:rPr>
              <a:t>第 2 章</a:t>
            </a:r>
            <a:endParaRPr/>
          </a:p>
        </p:txBody>
      </p:sp>
      <p:sp>
        <p:nvSpPr>
          <p:cNvPr id="62" name=""/>
          <p:cNvSpPr/>
          <p:nvPr/>
        </p:nvSpPr>
        <p:spPr>
          <a:xfrm>
            <a:off x="3810000" y="21590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000">
                <a:solidFill>
                  <a:srgbClr val="FFFFFF"/>
                </a:solidFill>
                <a:latin typeface="Microsoft YaHei"/>
                <a:ea typeface="Microsoft YaHei"/>
              </a:rPr>
              <a:t>趋势K线、十字星K线与高潮</a:t>
            </a:r>
            <a:endParaRPr/>
          </a:p>
        </p:txBody>
      </p:sp>
      <p:sp>
        <p:nvSpPr>
          <p:cNvPr id="63" name=""/>
          <p:cNvSpPr/>
          <p:nvPr/>
        </p:nvSpPr>
        <p:spPr>
          <a:xfrm>
            <a:off x="3810000" y="28575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B9CCED"/>
                </a:solidFill>
                <a:latin typeface="Microsoft YaHei"/>
                <a:ea typeface="Microsoft YaHei"/>
              </a:rPr>
              <a:t>印刷页 61-67 ｜ PDF 第 68-81 页</a:t>
            </a:r>
            <a:endParaRPr/>
          </a:p>
        </p:txBody>
      </p:sp>
      <p:sp>
        <p:nvSpPr>
          <p:cNvPr id="64" name=""/>
          <p:cNvSpPr/>
          <p:nvPr/>
        </p:nvSpPr>
        <p:spPr>
          <a:xfrm>
            <a:off x="3911600" y="3238500"/>
            <a:ext cx="29972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本讲含全书最重要的两个区分</a:t>
            </a:r>
            <a:endParaRPr/>
          </a:p>
        </p:txBody>
      </p:sp>
      <p:sp>
        <p:nvSpPr>
          <p:cNvPr id="65" name=""/>
          <p:cNvSpPr/>
          <p:nvPr/>
        </p:nvSpPr>
        <p:spPr>
          <a:xfrm>
            <a:off x="457200" y="65024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B9CCED"/>
                </a:solidFill>
                <a:latin typeface="Microsoft YaHei"/>
                <a:ea typeface="Microsoft YaHei"/>
              </a:rPr>
              <a:t>Brooks 价格行为学习 · 趋势卷</a:t>
            </a:r>
            <a:endParaRPr/>
          </a:p>
        </p:txBody>
      </p:sp>
      <p:sp>
        <p:nvSpPr>
          <p:cNvPr id="66" name=""/>
          <p:cNvSpPr/>
          <p:nvPr/>
        </p:nvSpPr>
        <p:spPr>
          <a:xfrm>
            <a:off x="10160000" y="6502400"/>
            <a:ext cx="1574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B9CCED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69" name="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70" name="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p/>
        </p:txBody>
      </p:sp>
      <p:sp>
        <p:nvSpPr>
          <p:cNvPr id="71" name=""/>
          <p:cNvSpPr/>
          <p:nvPr/>
        </p:nvSpPr>
        <p:spPr>
          <a:xfrm>
            <a:off x="1778000" y="2032000"/>
            <a:ext cx="50800" cy="2159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72" name=""/>
          <p:cNvSpPr/>
          <p:nvPr/>
        </p:nvSpPr>
        <p:spPr>
          <a:xfrm>
            <a:off x="1524000" y="2286000"/>
            <a:ext cx="558800" cy="1651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73" name=""/>
          <p:cNvSpPr/>
          <p:nvPr/>
        </p:nvSpPr>
        <p:spPr>
          <a:xfrm>
            <a:off x="3175000" y="2730500"/>
            <a:ext cx="50800" cy="698500"/>
          </a:xfrm>
          <a:prstGeom prst="rect">
            <a:avLst/>
          </a:prstGeom>
          <a:solidFill>
            <a:srgbClr val="2FA35A"/>
          </a:solidFill>
          <a:ln>
            <a:noFill/>
          </a:ln>
        </p:spPr>
        <p:txBody>
          <a:bodyPr/>
          <a:p/>
        </p:txBody>
      </p:sp>
      <p:sp>
        <p:nvSpPr>
          <p:cNvPr id="74" name=""/>
          <p:cNvSpPr/>
          <p:nvPr/>
        </p:nvSpPr>
        <p:spPr>
          <a:xfrm>
            <a:off x="2921000" y="3048000"/>
            <a:ext cx="558800" cy="63500"/>
          </a:xfrm>
          <a:prstGeom prst="rect">
            <a:avLst/>
          </a:prstGeom>
          <a:solidFill>
            <a:srgbClr val="2FA35A"/>
          </a:solidFill>
          <a:ln>
            <a:noFill/>
          </a:ln>
        </p:spPr>
        <p:txBody>
          <a:bodyPr/>
          <a:p/>
        </p:txBody>
      </p:sp>
      <p:sp>
        <p:nvSpPr>
          <p:cNvPr id="75" name=""/>
          <p:cNvSpPr/>
          <p:nvPr/>
        </p:nvSpPr>
        <p:spPr>
          <a:xfrm>
            <a:off x="4572000" y="1397000"/>
            <a:ext cx="7112000" cy="1320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6" name=""/>
          <p:cNvSpPr/>
          <p:nvPr/>
        </p:nvSpPr>
        <p:spPr>
          <a:xfrm>
            <a:off x="4572000" y="2870200"/>
            <a:ext cx="7112000" cy="1320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7" name=""/>
          <p:cNvSpPr/>
          <p:nvPr/>
        </p:nvSpPr>
        <p:spPr>
          <a:xfrm>
            <a:off x="4572000" y="4343400"/>
            <a:ext cx="7112000" cy="1524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txBody>
          <a:bodyPr/>
          <a:p/>
        </p:txBody>
      </p:sp>
      <p:sp>
        <p:nvSpPr>
          <p:cNvPr id="78" name=""/>
          <p:cNvSpPr/>
          <p:nvPr/>
        </p:nvSpPr>
        <p:spPr>
          <a:xfrm>
            <a:off x="457200" y="25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FFFFFF"/>
                </a:solidFill>
                <a:latin typeface="Microsoft YaHei"/>
                <a:ea typeface="Microsoft YaHei"/>
              </a:rPr>
              <a:t>K线只有两类：一方控盘 或 多空僵持</a:t>
            </a:r>
            <a:endParaRPr/>
          </a:p>
        </p:txBody>
      </p:sp>
      <p:sp>
        <p:nvSpPr>
          <p:cNvPr id="79" name=""/>
          <p:cNvSpPr/>
          <p:nvPr/>
        </p:nvSpPr>
        <p:spPr>
          <a:xfrm>
            <a:off x="8890000" y="330200"/>
            <a:ext cx="28448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C9D8F2"/>
                </a:solidFill>
                <a:latin typeface="Microsoft YaHei"/>
                <a:ea typeface="Microsoft YaHei"/>
              </a:rPr>
              <a:t>第 2 章 · 基础</a:t>
            </a:r>
            <a:endParaRPr/>
          </a:p>
        </p:txBody>
      </p:sp>
      <p:sp>
        <p:nvSpPr>
          <p:cNvPr id="80" name=""/>
          <p:cNvSpPr/>
          <p:nvPr/>
        </p:nvSpPr>
        <p:spPr>
          <a:xfrm>
            <a:off x="457200" y="64770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Brooks 价格行为学习 · 趋势卷</a:t>
            </a:r>
            <a:endParaRPr/>
          </a:p>
        </p:txBody>
      </p:sp>
      <p:sp>
        <p:nvSpPr>
          <p:cNvPr id="81" name=""/>
          <p:cNvSpPr/>
          <p:nvPr/>
        </p:nvSpPr>
        <p:spPr>
          <a:xfrm>
            <a:off x="10160000" y="6477000"/>
            <a:ext cx="1574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  <p:sp>
        <p:nvSpPr>
          <p:cNvPr id="82" name=""/>
          <p:cNvSpPr/>
          <p:nvPr/>
        </p:nvSpPr>
        <p:spPr>
          <a:xfrm>
            <a:off x="1422400" y="4089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2230"/>
                </a:solidFill>
                <a:latin typeface="Microsoft YaHei"/>
                <a:ea typeface="Microsoft YaHei"/>
              </a:rPr>
              <a:t>趋势K线</a:t>
            </a:r>
            <a:endParaRPr/>
          </a:p>
        </p:txBody>
      </p:sp>
      <p:sp>
        <p:nvSpPr>
          <p:cNvPr id="83" name=""/>
          <p:cNvSpPr/>
          <p:nvPr/>
        </p:nvSpPr>
        <p:spPr>
          <a:xfrm>
            <a:off x="1422400" y="4343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A5568"/>
                </a:solidFill>
                <a:latin typeface="Microsoft YaHei"/>
                <a:ea typeface="Microsoft YaHei"/>
              </a:rPr>
              <a:t>实体大，一方控盘</a:t>
            </a:r>
            <a:endParaRPr/>
          </a:p>
        </p:txBody>
      </p:sp>
      <p:sp>
        <p:nvSpPr>
          <p:cNvPr id="84" name=""/>
          <p:cNvSpPr/>
          <p:nvPr/>
        </p:nvSpPr>
        <p:spPr>
          <a:xfrm>
            <a:off x="2819400" y="4089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2230"/>
                </a:solidFill>
                <a:latin typeface="Microsoft YaHei"/>
                <a:ea typeface="Microsoft YaHei"/>
              </a:rPr>
              <a:t>十字星</a:t>
            </a:r>
            <a:endParaRPr/>
          </a:p>
        </p:txBody>
      </p:sp>
      <p:sp>
        <p:nvSpPr>
          <p:cNvPr id="85" name=""/>
          <p:cNvSpPr/>
          <p:nvPr/>
        </p:nvSpPr>
        <p:spPr>
          <a:xfrm>
            <a:off x="2819400" y="4343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A5568"/>
                </a:solidFill>
                <a:latin typeface="Microsoft YaHei"/>
                <a:ea typeface="Microsoft YaHei"/>
              </a:rPr>
              <a:t>实体≈0，僵持</a:t>
            </a:r>
            <a:endParaRPr/>
          </a:p>
        </p:txBody>
      </p:sp>
      <p:sp>
        <p:nvSpPr>
          <p:cNvPr id="86" name=""/>
          <p:cNvSpPr/>
          <p:nvPr/>
        </p:nvSpPr>
        <p:spPr>
          <a:xfrm>
            <a:off x="4775200" y="1498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判断标准是相对的</a:t>
            </a:r>
            <a:endParaRPr/>
          </a:p>
        </p:txBody>
      </p:sp>
      <p:sp>
        <p:nvSpPr>
          <p:cNvPr id="87" name=""/>
          <p:cNvSpPr/>
          <p:nvPr/>
        </p:nvSpPr>
        <p:spPr>
          <a:xfrm>
            <a:off x="4775200" y="1803400"/>
            <a:ext cx="67056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谷歌日线上实体 1 美元仍可能算十字星；Emini 5 分钟实体 1-2 个 tick 就算。不同市场、不同级别，标准不同——近似足矣，过分追求完美只会造成亏损（原书 PDF 69）。</a:t>
            </a:r>
            <a:endParaRPr/>
          </a:p>
        </p:txBody>
      </p:sp>
      <p:sp>
        <p:nvSpPr>
          <p:cNvPr id="88" name=""/>
          <p:cNvSpPr/>
          <p:nvPr/>
        </p:nvSpPr>
        <p:spPr>
          <a:xfrm>
            <a:off x="4775200" y="2971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别背名字</a:t>
            </a:r>
            <a:endParaRPr/>
          </a:p>
        </p:txBody>
      </p:sp>
      <p:sp>
        <p:nvSpPr>
          <p:cNvPr id="89" name=""/>
          <p:cNvSpPr/>
          <p:nvPr/>
        </p:nvSpPr>
        <p:spPr>
          <a:xfrm>
            <a:off x="4775200" y="3276600"/>
            <a:ext cx="67056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把实体小的K线细分成锤子线、上吊线、孕育线没有意义。重要的是判断市场是否在试图形成趋势、趋势强度如何。你是靠下单交易赚钱，不是靠起名字赚钱（原书 PDF 69）。</a:t>
            </a:r>
            <a:endParaRPr/>
          </a:p>
        </p:txBody>
      </p:sp>
      <p:sp>
        <p:nvSpPr>
          <p:cNvPr id="90" name=""/>
          <p:cNvSpPr/>
          <p:nvPr/>
        </p:nvSpPr>
        <p:spPr>
          <a:xfrm>
            <a:off x="4775200" y="4445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趋势K线怎么认</a:t>
            </a:r>
            <a:endParaRPr/>
          </a:p>
        </p:txBody>
      </p:sp>
      <p:sp>
        <p:nvSpPr>
          <p:cNvPr id="91" name=""/>
          <p:cNvSpPr/>
          <p:nvPr/>
        </p:nvSpPr>
        <p:spPr>
          <a:xfrm>
            <a:off x="4775200" y="4749800"/>
            <a:ext cx="67056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最低要求：收盘高于开盘（阳线）。较长实体通常动能较强；连续多根强趋势K线 = 趋势健康。但行情持续很久后实体过长，可能是高潮耗尽——先别动手（原书 PDF 69、72）。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94" name="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95" name="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p/>
        </p:txBody>
      </p:sp>
      <p:sp>
        <p:nvSpPr>
          <p:cNvPr id="96" name=""/>
          <p:cNvSpPr/>
          <p:nvPr/>
        </p:nvSpPr>
        <p:spPr>
          <a:xfrm>
            <a:off x="2108200" y="1905000"/>
            <a:ext cx="63500" cy="3302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97" name=""/>
          <p:cNvSpPr/>
          <p:nvPr/>
        </p:nvSpPr>
        <p:spPr>
          <a:xfrm>
            <a:off x="1778000" y="2286000"/>
            <a:ext cx="762000" cy="2540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98" name=""/>
          <p:cNvSpPr/>
          <p:nvPr/>
        </p:nvSpPr>
        <p:spPr>
          <a:xfrm>
            <a:off x="4191000" y="1524000"/>
            <a:ext cx="3302000" cy="889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>
            <a:off x="7874000" y="1524000"/>
            <a:ext cx="3302000" cy="889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0" name=""/>
          <p:cNvSpPr/>
          <p:nvPr/>
        </p:nvSpPr>
        <p:spPr>
          <a:xfrm>
            <a:off x="4191000" y="3175000"/>
            <a:ext cx="3302000" cy="889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>
            <a:off x="7874000" y="3175000"/>
            <a:ext cx="3302000" cy="889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2" name=""/>
          <p:cNvSpPr/>
          <p:nvPr/>
        </p:nvSpPr>
        <p:spPr>
          <a:xfrm>
            <a:off x="457200" y="5334000"/>
            <a:ext cx="11277600" cy="6604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txBody>
          <a:bodyPr/>
          <a:p/>
        </p:txBody>
      </p:sp>
      <p:sp>
        <p:nvSpPr>
          <p:cNvPr id="103" name=""/>
          <p:cNvSpPr/>
          <p:nvPr/>
        </p:nvSpPr>
        <p:spPr>
          <a:xfrm>
            <a:off x="457200" y="25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FFFFFF"/>
                </a:solidFill>
                <a:latin typeface="Microsoft YaHei"/>
                <a:ea typeface="Microsoft YaHei"/>
              </a:rPr>
              <a:t>一根大阳线的顶上，同时站着四种人</a:t>
            </a:r>
            <a:endParaRPr/>
          </a:p>
        </p:txBody>
      </p:sp>
      <p:sp>
        <p:nvSpPr>
          <p:cNvPr id="104" name=""/>
          <p:cNvSpPr/>
          <p:nvPr/>
        </p:nvSpPr>
        <p:spPr>
          <a:xfrm>
            <a:off x="8890000" y="330200"/>
            <a:ext cx="28448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C9D8F2"/>
                </a:solidFill>
                <a:latin typeface="Microsoft YaHei"/>
                <a:ea typeface="Microsoft YaHei"/>
              </a:rPr>
              <a:t>第 2 章 · 思维</a:t>
            </a:r>
            <a:endParaRPr/>
          </a:p>
        </p:txBody>
      </p:sp>
      <p:sp>
        <p:nvSpPr>
          <p:cNvPr id="105" name=""/>
          <p:cNvSpPr/>
          <p:nvPr/>
        </p:nvSpPr>
        <p:spPr>
          <a:xfrm>
            <a:off x="457200" y="64770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Brooks 价格行为学习 · 趋势卷</a:t>
            </a:r>
            <a:endParaRPr/>
          </a:p>
        </p:txBody>
      </p:sp>
      <p:sp>
        <p:nvSpPr>
          <p:cNvPr id="106" name=""/>
          <p:cNvSpPr/>
          <p:nvPr/>
        </p:nvSpPr>
        <p:spPr>
          <a:xfrm>
            <a:off x="10160000" y="6477000"/>
            <a:ext cx="1574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  <p:sp>
        <p:nvSpPr>
          <p:cNvPr id="107" name=""/>
          <p:cNvSpPr/>
          <p:nvPr/>
        </p:nvSpPr>
        <p:spPr>
          <a:xfrm>
            <a:off x="4191000" y="16764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E3F8C"/>
                </a:solidFill>
                <a:latin typeface="Microsoft YaHei"/>
                <a:ea typeface="Microsoft YaHei"/>
              </a:rPr>
              <a:t>追高的多头</a:t>
            </a:r>
            <a:endParaRPr/>
          </a:p>
        </p:txBody>
      </p:sp>
      <p:sp>
        <p:nvSpPr>
          <p:cNvPr id="108" name=""/>
          <p:cNvSpPr/>
          <p:nvPr/>
        </p:nvSpPr>
        <p:spPr>
          <a:xfrm>
            <a:off x="4191000" y="1981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怕踏空，现在就买</a:t>
            </a:r>
            <a:endParaRPr/>
          </a:p>
        </p:txBody>
      </p:sp>
      <p:sp>
        <p:nvSpPr>
          <p:cNvPr id="109" name=""/>
          <p:cNvSpPr/>
          <p:nvPr/>
        </p:nvSpPr>
        <p:spPr>
          <a:xfrm>
            <a:off x="7874000" y="16764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E3F8C"/>
                </a:solidFill>
                <a:latin typeface="Microsoft YaHei"/>
                <a:ea typeface="Microsoft YaHei"/>
              </a:rPr>
              <a:t>等回调的多头</a:t>
            </a:r>
            <a:endParaRPr/>
          </a:p>
        </p:txBody>
      </p:sp>
      <p:sp>
        <p:nvSpPr>
          <p:cNvPr id="110" name=""/>
          <p:cNvSpPr/>
          <p:nvPr/>
        </p:nvSpPr>
        <p:spPr>
          <a:xfrm>
            <a:off x="7874000" y="1981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嫌贵，等跌回来再买</a:t>
            </a:r>
            <a:endParaRPr/>
          </a:p>
        </p:txBody>
      </p:sp>
      <p:sp>
        <p:nvSpPr>
          <p:cNvPr id="111" name=""/>
          <p:cNvSpPr/>
          <p:nvPr/>
        </p:nvSpPr>
        <p:spPr>
          <a:xfrm>
            <a:off x="4191000" y="33274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E3F8C"/>
                </a:solidFill>
                <a:latin typeface="Microsoft YaHei"/>
                <a:ea typeface="Microsoft YaHei"/>
              </a:rPr>
              <a:t>锁利的多头</a:t>
            </a:r>
            <a:endParaRPr/>
          </a:p>
        </p:txBody>
      </p:sp>
      <p:sp>
        <p:nvSpPr>
          <p:cNvPr id="112" name=""/>
          <p:cNvSpPr/>
          <p:nvPr/>
        </p:nvSpPr>
        <p:spPr>
          <a:xfrm>
            <a:off x="4191000" y="3632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觉得到头了，逢高在卖</a:t>
            </a:r>
            <a:endParaRPr/>
          </a:p>
        </p:txBody>
      </p:sp>
      <p:sp>
        <p:nvSpPr>
          <p:cNvPr id="113" name=""/>
          <p:cNvSpPr/>
          <p:nvPr/>
        </p:nvSpPr>
        <p:spPr>
          <a:xfrm>
            <a:off x="7874000" y="33274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E3F8C"/>
                </a:solidFill>
                <a:latin typeface="Microsoft YaHei"/>
                <a:ea typeface="Microsoft YaHei"/>
              </a:rPr>
              <a:t>看空的人</a:t>
            </a:r>
            <a:endParaRPr/>
          </a:p>
        </p:txBody>
      </p:sp>
      <p:sp>
        <p:nvSpPr>
          <p:cNvPr id="114" name=""/>
          <p:cNvSpPr/>
          <p:nvPr/>
        </p:nvSpPr>
        <p:spPr>
          <a:xfrm>
            <a:off x="7874000" y="3632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认为强弩之末，准备做空</a:t>
            </a:r>
            <a:endParaRPr/>
          </a:p>
        </p:txBody>
      </p:sp>
      <p:sp>
        <p:nvSpPr>
          <p:cNvPr id="115" name=""/>
          <p:cNvSpPr/>
          <p:nvPr/>
        </p:nvSpPr>
        <p:spPr>
          <a:xfrm>
            <a:off x="1219200" y="5511800"/>
            <a:ext cx="97536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把大阳线直接读成「看涨」，你就忘了一半玩家（原书 PDF 68）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18" name="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119" name="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p/>
        </p:txBody>
      </p:sp>
      <p:sp>
        <p:nvSpPr>
          <p:cNvPr id="120" name=""/>
          <p:cNvSpPr/>
          <p:nvPr/>
        </p:nvSpPr>
        <p:spPr>
          <a:xfrm>
            <a:off x="965200" y="3619500"/>
            <a:ext cx="38100" cy="1524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1" name=""/>
          <p:cNvSpPr/>
          <p:nvPr/>
        </p:nvSpPr>
        <p:spPr>
          <a:xfrm>
            <a:off x="762000" y="3810000"/>
            <a:ext cx="457200" cy="1143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2" name=""/>
          <p:cNvSpPr/>
          <p:nvPr/>
        </p:nvSpPr>
        <p:spPr>
          <a:xfrm>
            <a:off x="1676400" y="2857500"/>
            <a:ext cx="38100" cy="1524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3" name=""/>
          <p:cNvSpPr/>
          <p:nvPr/>
        </p:nvSpPr>
        <p:spPr>
          <a:xfrm>
            <a:off x="1473200" y="3048000"/>
            <a:ext cx="457200" cy="1143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4" name=""/>
          <p:cNvSpPr/>
          <p:nvPr/>
        </p:nvSpPr>
        <p:spPr>
          <a:xfrm>
            <a:off x="2387600" y="2095500"/>
            <a:ext cx="38100" cy="1524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5" name=""/>
          <p:cNvSpPr/>
          <p:nvPr/>
        </p:nvSpPr>
        <p:spPr>
          <a:xfrm>
            <a:off x="2184400" y="2286000"/>
            <a:ext cx="457200" cy="1143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>
            <a:off x="3098800" y="1778000"/>
            <a:ext cx="38100" cy="6985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7" name=""/>
          <p:cNvSpPr/>
          <p:nvPr/>
        </p:nvSpPr>
        <p:spPr>
          <a:xfrm>
            <a:off x="2895600" y="2222500"/>
            <a:ext cx="457200" cy="127000"/>
          </a:xfrm>
          <a:prstGeom prst="rect">
            <a:avLst/>
          </a:prstGeom>
          <a:solidFill>
            <a:srgbClr val="D43A31"/>
          </a:solidFill>
          <a:ln>
            <a:noFill/>
          </a:ln>
        </p:spPr>
        <p:txBody>
          <a:bodyPr/>
          <a:p/>
        </p:txBody>
      </p:sp>
      <p:sp>
        <p:nvSpPr>
          <p:cNvPr id="128" name=""/>
          <p:cNvSpPr/>
          <p:nvPr/>
        </p:nvSpPr>
        <p:spPr>
          <a:xfrm>
            <a:off x="4826000" y="1524000"/>
            <a:ext cx="6604000" cy="13970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9" name=""/>
          <p:cNvSpPr/>
          <p:nvPr/>
        </p:nvSpPr>
        <p:spPr>
          <a:xfrm>
            <a:off x="4826000" y="3175000"/>
            <a:ext cx="6604000" cy="13970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0" name=""/>
          <p:cNvSpPr/>
          <p:nvPr/>
        </p:nvSpPr>
        <p:spPr>
          <a:xfrm>
            <a:off x="457200" y="5334000"/>
            <a:ext cx="11277600" cy="6604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>
            <a:off x="457200" y="25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FFFFFF"/>
                </a:solidFill>
                <a:latin typeface="Microsoft YaHei"/>
                <a:ea typeface="Microsoft YaHei"/>
              </a:rPr>
              <a:t>高潮 ≠ 反转：这是两件事</a:t>
            </a:r>
            <a:endParaRPr/>
          </a:p>
        </p:txBody>
      </p:sp>
      <p:sp>
        <p:nvSpPr>
          <p:cNvPr id="132" name=""/>
          <p:cNvSpPr/>
          <p:nvPr/>
        </p:nvSpPr>
        <p:spPr>
          <a:xfrm>
            <a:off x="8890000" y="330200"/>
            <a:ext cx="28448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C9D8F2"/>
                </a:solidFill>
                <a:latin typeface="Microsoft YaHei"/>
                <a:ea typeface="Microsoft YaHei"/>
              </a:rPr>
              <a:t>第 2 章 · 核心区分</a:t>
            </a:r>
            <a:endParaRPr/>
          </a:p>
        </p:txBody>
      </p:sp>
      <p:sp>
        <p:nvSpPr>
          <p:cNvPr id="133" name=""/>
          <p:cNvSpPr/>
          <p:nvPr/>
        </p:nvSpPr>
        <p:spPr>
          <a:xfrm>
            <a:off x="457200" y="64770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Brooks 价格行为学习 · 趋势卷</a:t>
            </a:r>
            <a:endParaRPr/>
          </a:p>
        </p:txBody>
      </p:sp>
      <p:sp>
        <p:nvSpPr>
          <p:cNvPr id="134" name=""/>
          <p:cNvSpPr/>
          <p:nvPr/>
        </p:nvSpPr>
        <p:spPr>
          <a:xfrm>
            <a:off x="10160000" y="6477000"/>
            <a:ext cx="1574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  <p:sp>
        <p:nvSpPr>
          <p:cNvPr id="135" name=""/>
          <p:cNvSpPr/>
          <p:nvPr/>
        </p:nvSpPr>
        <p:spPr>
          <a:xfrm>
            <a:off x="762000" y="4419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连续强阳 = 买入高潮</a:t>
            </a:r>
            <a:endParaRPr/>
          </a:p>
        </p:txBody>
      </p:sp>
      <p:sp>
        <p:nvSpPr>
          <p:cNvPr id="136" name=""/>
          <p:cNvSpPr/>
          <p:nvPr/>
        </p:nvSpPr>
        <p:spPr>
          <a:xfrm>
            <a:off x="2895600" y="14986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BA7517"/>
                </a:solidFill>
                <a:latin typeface="Microsoft YaHei"/>
                <a:ea typeface="Microsoft YaHei"/>
              </a:rPr>
              <a:t>停止K线</a:t>
            </a:r>
            <a:endParaRPr/>
          </a:p>
        </p:txBody>
      </p:sp>
      <p:sp>
        <p:nvSpPr>
          <p:cNvPr id="137" name=""/>
          <p:cNvSpPr/>
          <p:nvPr/>
        </p:nvSpPr>
        <p:spPr>
          <a:xfrm>
            <a:off x="2895600" y="12700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4A5568"/>
                </a:solidFill>
                <a:latin typeface="Microsoft YaHei"/>
                <a:ea typeface="Microsoft YaHei"/>
              </a:rPr>
              <a:t>高潮死在这根</a:t>
            </a:r>
            <a:endParaRPr/>
          </a:p>
        </p:txBody>
      </p:sp>
      <p:sp>
        <p:nvSpPr>
          <p:cNvPr id="138" name=""/>
          <p:cNvSpPr/>
          <p:nvPr/>
        </p:nvSpPr>
        <p:spPr>
          <a:xfrm>
            <a:off x="5029200" y="1651000"/>
            <a:ext cx="61976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E3F8C"/>
                </a:solidFill>
                <a:latin typeface="Microsoft YaHei"/>
                <a:ea typeface="Microsoft YaHei"/>
              </a:rPr>
              <a:t>分支 A ｜ 多头缓过来</a:t>
            </a:r>
            <a:endParaRPr/>
          </a:p>
        </p:txBody>
      </p:sp>
      <p:sp>
        <p:nvSpPr>
          <p:cNvPr id="139" name=""/>
          <p:cNvSpPr/>
          <p:nvPr/>
        </p:nvSpPr>
        <p:spPr>
          <a:xfrm>
            <a:off x="5029200" y="1955800"/>
            <a:ext cx="61976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双向交易后多头胜出，趋势恢复——停止K线只是踉跄，不是掉头。</a:t>
            </a:r>
            <a:endParaRPr/>
          </a:p>
        </p:txBody>
      </p:sp>
      <p:sp>
        <p:nvSpPr>
          <p:cNvPr id="140" name=""/>
          <p:cNvSpPr/>
          <p:nvPr/>
        </p:nvSpPr>
        <p:spPr>
          <a:xfrm>
            <a:off x="5029200" y="3302000"/>
            <a:ext cx="61976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D9534F"/>
                </a:solidFill>
                <a:latin typeface="Microsoft YaHei"/>
                <a:ea typeface="Microsoft YaHei"/>
              </a:rPr>
              <a:t>分支 B ｜ 空头拍出反向强趋势K线</a:t>
            </a:r>
            <a:endParaRPr/>
          </a:p>
        </p:txBody>
      </p:sp>
      <p:sp>
        <p:nvSpPr>
          <p:cNvPr id="141" name=""/>
          <p:cNvSpPr/>
          <p:nvPr/>
        </p:nvSpPr>
        <p:spPr>
          <a:xfrm>
            <a:off x="5029200" y="3606800"/>
            <a:ext cx="61976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高潮 + 反向强趋势K线（空头突破）= 高潮反转顶部——这时反转才成立。</a:t>
            </a:r>
            <a:endParaRPr/>
          </a:p>
        </p:txBody>
      </p:sp>
      <p:sp>
        <p:nvSpPr>
          <p:cNvPr id="142" name=""/>
          <p:cNvSpPr/>
          <p:nvPr/>
        </p:nvSpPr>
        <p:spPr>
          <a:xfrm>
            <a:off x="1219200" y="5511800"/>
            <a:ext cx="97536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反转 = 高潮 + 反向强趋势K线，缺一不可（原书 PDF 71）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45" name="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146" name="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p/>
        </p:txBody>
      </p:sp>
      <p:sp>
        <p:nvSpPr>
          <p:cNvPr id="147" name=""/>
          <p:cNvSpPr/>
          <p:nvPr/>
        </p:nvSpPr>
        <p:spPr>
          <a:xfrm>
            <a:off x="457200" y="1270000"/>
            <a:ext cx="5334000" cy="381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>
            <a:off x="6248400" y="1270000"/>
            <a:ext cx="5181600" cy="1651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9" name=""/>
          <p:cNvSpPr/>
          <p:nvPr/>
        </p:nvSpPr>
        <p:spPr>
          <a:xfrm>
            <a:off x="6248400" y="3175000"/>
            <a:ext cx="5181600" cy="1651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0" name=""/>
          <p:cNvSpPr/>
          <p:nvPr/>
        </p:nvSpPr>
        <p:spPr>
          <a:xfrm>
            <a:off x="457200" y="5334000"/>
            <a:ext cx="11277600" cy="6604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txBody>
          <a:bodyPr/>
          <a:p/>
        </p:txBody>
      </p:sp>
      <p:sp>
        <p:nvSpPr>
          <p:cNvPr id="151" name=""/>
          <p:cNvSpPr/>
          <p:nvPr/>
        </p:nvSpPr>
        <p:spPr>
          <a:xfrm>
            <a:off x="457200" y="25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FFFFFF"/>
                </a:solidFill>
                <a:latin typeface="Microsoft YaHei"/>
                <a:ea typeface="Microsoft YaHei"/>
              </a:rPr>
              <a:t>真空效应：没人接招，价格空涨</a:t>
            </a:r>
            <a:endParaRPr/>
          </a:p>
        </p:txBody>
      </p:sp>
      <p:sp>
        <p:nvSpPr>
          <p:cNvPr id="152" name=""/>
          <p:cNvSpPr/>
          <p:nvPr/>
        </p:nvSpPr>
        <p:spPr>
          <a:xfrm>
            <a:off x="8890000" y="330200"/>
            <a:ext cx="28448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C9D8F2"/>
                </a:solidFill>
                <a:latin typeface="Microsoft YaHei"/>
                <a:ea typeface="Microsoft YaHei"/>
              </a:rPr>
              <a:t>第 2 章 · 难点</a:t>
            </a:r>
            <a:endParaRPr/>
          </a:p>
        </p:txBody>
      </p:sp>
      <p:sp>
        <p:nvSpPr>
          <p:cNvPr id="153" name=""/>
          <p:cNvSpPr/>
          <p:nvPr/>
        </p:nvSpPr>
        <p:spPr>
          <a:xfrm>
            <a:off x="457200" y="64770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Brooks 价格行为学习 · 趋势卷</a:t>
            </a:r>
            <a:endParaRPr/>
          </a:p>
        </p:txBody>
      </p:sp>
      <p:sp>
        <p:nvSpPr>
          <p:cNvPr id="154" name=""/>
          <p:cNvSpPr/>
          <p:nvPr/>
        </p:nvSpPr>
        <p:spPr>
          <a:xfrm>
            <a:off x="10160000" y="6477000"/>
            <a:ext cx="1574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  <p:sp>
        <p:nvSpPr>
          <p:cNvPr id="155" name=""/>
          <p:cNvSpPr/>
          <p:nvPr/>
        </p:nvSpPr>
        <p:spPr>
          <a:xfrm>
            <a:off x="660400" y="14224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类比：拍卖会冷场</a:t>
            </a:r>
            <a:endParaRPr/>
          </a:p>
        </p:txBody>
      </p:sp>
      <p:sp>
        <p:nvSpPr>
          <p:cNvPr id="156" name=""/>
          <p:cNvSpPr/>
          <p:nvPr/>
        </p:nvSpPr>
        <p:spPr>
          <a:xfrm>
            <a:off x="660400" y="1778000"/>
            <a:ext cx="4927600" cy="304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该卖的人把手揣在兜里不参与，买方想成交只能一路往上加价。价格空涨，看着比真抢筹还凶。
作者原意：买入高潮后的急升，可能是强势空头故意观望、强势多头暂缓平仓——直到价格来到他们都愿意卖的区域（PDF 70）。</a:t>
            </a:r>
            <a:endParaRPr/>
          </a:p>
        </p:txBody>
      </p:sp>
      <p:sp>
        <p:nvSpPr>
          <p:cNvPr id="157" name=""/>
          <p:cNvSpPr/>
          <p:nvPr/>
        </p:nvSpPr>
        <p:spPr>
          <a:xfrm>
            <a:off x="6451600" y="14224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E3F8C"/>
                </a:solidFill>
                <a:latin typeface="Microsoft YaHei"/>
                <a:ea typeface="Microsoft YaHei"/>
              </a:rPr>
              <a:t>急升后集体砸出卖单</a:t>
            </a:r>
            <a:endParaRPr/>
          </a:p>
        </p:txBody>
      </p:sp>
      <p:sp>
        <p:nvSpPr>
          <p:cNvPr id="158" name=""/>
          <p:cNvSpPr/>
          <p:nvPr/>
        </p:nvSpPr>
        <p:spPr>
          <a:xfrm>
            <a:off x="6451600" y="1778000"/>
            <a:ext cx="47752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那是真空：他们在等更好的价，到了就集体出手。</a:t>
            </a:r>
            <a:endParaRPr/>
          </a:p>
        </p:txBody>
      </p:sp>
      <p:sp>
        <p:nvSpPr>
          <p:cNvPr id="159" name=""/>
          <p:cNvSpPr/>
          <p:nvPr/>
        </p:nvSpPr>
        <p:spPr>
          <a:xfrm>
            <a:off x="6451600" y="3327400"/>
            <a:ext cx="47752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E3F8C"/>
                </a:solidFill>
                <a:latin typeface="Microsoft YaHei"/>
                <a:ea typeface="Microsoft YaHei"/>
              </a:rPr>
              <a:t>急升后迎来更多买盘</a:t>
            </a:r>
            <a:endParaRPr/>
          </a:p>
        </p:txBody>
      </p:sp>
      <p:sp>
        <p:nvSpPr>
          <p:cNvPr id="160" name=""/>
          <p:cNvSpPr/>
          <p:nvPr/>
        </p:nvSpPr>
        <p:spPr>
          <a:xfrm>
            <a:off x="6451600" y="3683000"/>
            <a:ext cx="47752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那是真买：强势多头真的在买，不是没人接招。</a:t>
            </a:r>
            <a:endParaRPr/>
          </a:p>
        </p:txBody>
      </p:sp>
      <p:sp>
        <p:nvSpPr>
          <p:cNvPr id="161" name=""/>
          <p:cNvSpPr/>
          <p:nvPr/>
        </p:nvSpPr>
        <p:spPr>
          <a:xfrm>
            <a:off x="1219200" y="5511800"/>
            <a:ext cx="9753600" cy="330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500">
                <a:solidFill>
                  <a:srgbClr val="0E3F8C"/>
                </a:solidFill>
                <a:latin typeface="Microsoft YaHei"/>
                <a:ea typeface="Microsoft YaHei"/>
              </a:rPr>
              <a:t>分辨真空还是真买，答案在后面的K线里，不在当下（原书 PDF 70）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64" name="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165" name="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p/>
        </p:txBody>
      </p:sp>
      <p:sp>
        <p:nvSpPr>
          <p:cNvPr id="166" name=""/>
          <p:cNvSpPr/>
          <p:nvPr/>
        </p:nvSpPr>
        <p:spPr>
          <a:xfrm>
            <a:off x="1270000" y="1905000"/>
            <a:ext cx="8890000" cy="254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txBody>
          <a:bodyPr/>
          <a:p/>
        </p:txBody>
      </p:sp>
      <p:sp>
        <p:nvSpPr>
          <p:cNvPr id="167" name=""/>
          <p:cNvSpPr/>
          <p:nvPr/>
        </p:nvSpPr>
        <p:spPr>
          <a:xfrm>
            <a:off x="1270000" y="4191000"/>
            <a:ext cx="8890000" cy="25400"/>
          </a:xfrm>
          <a:prstGeom prst="rect">
            <a:avLst/>
          </a:prstGeom>
          <a:solidFill>
            <a:srgbClr val="2FA35A"/>
          </a:solidFill>
          <a:ln>
            <a:noFill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>
            <a:off x="3175000" y="2667000"/>
            <a:ext cx="3810000" cy="76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9" name=""/>
          <p:cNvSpPr/>
          <p:nvPr/>
        </p:nvSpPr>
        <p:spPr>
          <a:xfrm>
            <a:off x="7239000" y="2667000"/>
            <a:ext cx="3810000" cy="76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0" name=""/>
          <p:cNvSpPr/>
          <p:nvPr/>
        </p:nvSpPr>
        <p:spPr>
          <a:xfrm>
            <a:off x="457200" y="5334000"/>
            <a:ext cx="11277600" cy="762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txBody>
          <a:bodyPr/>
          <a:p/>
        </p:txBody>
      </p:sp>
      <p:sp>
        <p:nvSpPr>
          <p:cNvPr id="171" name=""/>
          <p:cNvSpPr/>
          <p:nvPr/>
        </p:nvSpPr>
        <p:spPr>
          <a:xfrm>
            <a:off x="457200" y="25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FFFFFF"/>
                </a:solidFill>
                <a:latin typeface="Microsoft YaHei"/>
                <a:ea typeface="Microsoft YaHei"/>
              </a:rPr>
              <a:t>买压与卖压：区间是强者画出来的</a:t>
            </a:r>
            <a:endParaRPr/>
          </a:p>
        </p:txBody>
      </p:sp>
      <p:sp>
        <p:nvSpPr>
          <p:cNvPr id="172" name=""/>
          <p:cNvSpPr/>
          <p:nvPr/>
        </p:nvSpPr>
        <p:spPr>
          <a:xfrm>
            <a:off x="8890000" y="330200"/>
            <a:ext cx="28448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C9D8F2"/>
                </a:solidFill>
                <a:latin typeface="Microsoft YaHei"/>
                <a:ea typeface="Microsoft YaHei"/>
              </a:rPr>
              <a:t>第 2 章 · 机制</a:t>
            </a:r>
            <a:endParaRPr/>
          </a:p>
        </p:txBody>
      </p:sp>
      <p:sp>
        <p:nvSpPr>
          <p:cNvPr id="173" name=""/>
          <p:cNvSpPr/>
          <p:nvPr/>
        </p:nvSpPr>
        <p:spPr>
          <a:xfrm>
            <a:off x="457200" y="64770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Brooks 价格行为学习 · 趋势卷</a:t>
            </a:r>
            <a:endParaRPr/>
          </a:p>
        </p:txBody>
      </p:sp>
      <p:sp>
        <p:nvSpPr>
          <p:cNvPr id="174" name=""/>
          <p:cNvSpPr/>
          <p:nvPr/>
        </p:nvSpPr>
        <p:spPr>
          <a:xfrm>
            <a:off x="10160000" y="6477000"/>
            <a:ext cx="1574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  <p:sp>
        <p:nvSpPr>
          <p:cNvPr id="175" name=""/>
          <p:cNvSpPr/>
          <p:nvPr/>
        </p:nvSpPr>
        <p:spPr>
          <a:xfrm>
            <a:off x="1397000" y="157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D9534F"/>
                </a:solidFill>
                <a:latin typeface="Microsoft YaHei"/>
                <a:ea typeface="Microsoft YaHei"/>
              </a:rPr>
              <a:t>强势空头：只想逢高卖</a:t>
            </a:r>
            <a:endParaRPr/>
          </a:p>
        </p:txBody>
      </p:sp>
      <p:sp>
        <p:nvSpPr>
          <p:cNvPr id="176" name=""/>
          <p:cNvSpPr/>
          <p:nvPr/>
        </p:nvSpPr>
        <p:spPr>
          <a:xfrm>
            <a:off x="1397000" y="4318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1D9E75"/>
                </a:solidFill>
                <a:latin typeface="Microsoft YaHei"/>
                <a:ea typeface="Microsoft YaHei"/>
              </a:rPr>
              <a:t>强势多头：越跌越买</a:t>
            </a:r>
            <a:endParaRPr/>
          </a:p>
        </p:txBody>
      </p:sp>
      <p:sp>
        <p:nvSpPr>
          <p:cNvPr id="177" name=""/>
          <p:cNvSpPr/>
          <p:nvPr/>
        </p:nvSpPr>
        <p:spPr>
          <a:xfrm>
            <a:off x="3327400" y="2794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弱势多头：区间底割肉，区间顶怕踏空追买</a:t>
            </a:r>
            <a:endParaRPr/>
          </a:p>
        </p:txBody>
      </p:sp>
      <p:sp>
        <p:nvSpPr>
          <p:cNvPr id="178" name=""/>
          <p:cNvSpPr/>
          <p:nvPr/>
        </p:nvSpPr>
        <p:spPr>
          <a:xfrm>
            <a:off x="7391400" y="2794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弱势空头：追空，高点止损买回</a:t>
            </a:r>
            <a:endParaRPr/>
          </a:p>
        </p:txBody>
      </p:sp>
      <p:sp>
        <p:nvSpPr>
          <p:cNvPr id="179" name=""/>
          <p:cNvSpPr/>
          <p:nvPr/>
        </p:nvSpPr>
        <p:spPr>
          <a:xfrm>
            <a:off x="660400" y="5435600"/>
            <a:ext cx="10871200" cy="5842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0E3F8C"/>
                </a:solidFill>
                <a:latin typeface="Microsoft YaHei"/>
                <a:ea typeface="Microsoft YaHei"/>
              </a:rPr>
              <a:t>读信号：下跌趋势中下影线变长、大阳线变多、收盘远离最低点 = 买压集聚；强多在底买 + 强空只想高卖 → 市场进入交易区间（原书 PDF 72-73）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sp>
        <p:nvSpPr>
          <p:cNvPr id="182" name="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183" name="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p/>
        </p:txBody>
      </p:sp>
      <p:sp>
        <p:nvSpPr>
          <p:cNvPr id="184" name=""/>
          <p:cNvSpPr/>
          <p:nvPr/>
        </p:nvSpPr>
        <p:spPr>
          <a:xfrm>
            <a:off x="457200" y="1219200"/>
            <a:ext cx="11277600" cy="711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5" name=""/>
          <p:cNvSpPr/>
          <p:nvPr/>
        </p:nvSpPr>
        <p:spPr>
          <a:xfrm>
            <a:off x="457200" y="2057400"/>
            <a:ext cx="11277600" cy="711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6" name=""/>
          <p:cNvSpPr/>
          <p:nvPr/>
        </p:nvSpPr>
        <p:spPr>
          <a:xfrm>
            <a:off x="457200" y="2895600"/>
            <a:ext cx="11277600" cy="711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7" name=""/>
          <p:cNvSpPr/>
          <p:nvPr/>
        </p:nvSpPr>
        <p:spPr>
          <a:xfrm>
            <a:off x="457200" y="3733800"/>
            <a:ext cx="11277600" cy="711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8" name=""/>
          <p:cNvSpPr/>
          <p:nvPr/>
        </p:nvSpPr>
        <p:spPr>
          <a:xfrm>
            <a:off x="457200" y="4673600"/>
            <a:ext cx="11277600" cy="71120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189" name=""/>
          <p:cNvSpPr/>
          <p:nvPr/>
        </p:nvSpPr>
        <p:spPr>
          <a:xfrm>
            <a:off x="457200" y="254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200">
                <a:solidFill>
                  <a:srgbClr val="FFFFFF"/>
                </a:solidFill>
                <a:latin typeface="Microsoft YaHei"/>
                <a:ea typeface="Microsoft YaHei"/>
              </a:rPr>
              <a:t>第 2 章随堂检查（EX-L06）</a:t>
            </a:r>
            <a:endParaRPr/>
          </a:p>
        </p:txBody>
      </p:sp>
      <p:sp>
        <p:nvSpPr>
          <p:cNvPr id="190" name=""/>
          <p:cNvSpPr/>
          <p:nvPr/>
        </p:nvSpPr>
        <p:spPr>
          <a:xfrm>
            <a:off x="8890000" y="330200"/>
            <a:ext cx="28448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C9D8F2"/>
                </a:solidFill>
                <a:latin typeface="Microsoft YaHei"/>
                <a:ea typeface="Microsoft YaHei"/>
              </a:rPr>
              <a:t>第 2 章 · 检查</a:t>
            </a:r>
            <a:endParaRPr/>
          </a:p>
        </p:txBody>
      </p:sp>
      <p:sp>
        <p:nvSpPr>
          <p:cNvPr id="191" name=""/>
          <p:cNvSpPr/>
          <p:nvPr/>
        </p:nvSpPr>
        <p:spPr>
          <a:xfrm>
            <a:off x="457200" y="64770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Brooks 价格行为学习 · 趋势卷</a:t>
            </a:r>
            <a:endParaRPr/>
          </a:p>
        </p:txBody>
      </p:sp>
      <p:sp>
        <p:nvSpPr>
          <p:cNvPr id="192" name=""/>
          <p:cNvSpPr/>
          <p:nvPr/>
        </p:nvSpPr>
        <p:spPr>
          <a:xfrm>
            <a:off x="10160000" y="6477000"/>
            <a:ext cx="1574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8B97A8"/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  <p:sp>
        <p:nvSpPr>
          <p:cNvPr id="193" name=""/>
          <p:cNvSpPr/>
          <p:nvPr/>
        </p:nvSpPr>
        <p:spPr>
          <a:xfrm>
            <a:off x="660400" y="1346200"/>
            <a:ext cx="10871200" cy="482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 1 题（25 分）判K线：甲乙丙丁四根，各判趋势K线还是十字星（她独立作答：25/25 满分）</a:t>
            </a:r>
            <a:endParaRPr/>
          </a:p>
        </p:txBody>
      </p:sp>
      <p:sp>
        <p:nvSpPr>
          <p:cNvPr id="194" name=""/>
          <p:cNvSpPr/>
          <p:nvPr/>
        </p:nvSpPr>
        <p:spPr>
          <a:xfrm>
            <a:off x="660400" y="2184400"/>
            <a:ext cx="10871200" cy="482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 2 题（25 分）连续 4 根强阳 + 长上影小阳：高潮结束了吗？反转了吗？还差什么证据？</a:t>
            </a:r>
            <a:endParaRPr/>
          </a:p>
        </p:txBody>
      </p:sp>
      <p:sp>
        <p:nvSpPr>
          <p:cNvPr id="195" name=""/>
          <p:cNvSpPr/>
          <p:nvPr/>
        </p:nvSpPr>
        <p:spPr>
          <a:xfrm>
            <a:off x="660400" y="3022600"/>
            <a:ext cx="10871200" cy="482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 3 题（25 分）为什么强势空头故意不卖，价格反而涨得更快？怎么分辨真空还是真买？</a:t>
            </a:r>
            <a:endParaRPr/>
          </a:p>
        </p:txBody>
      </p:sp>
      <p:sp>
        <p:nvSpPr>
          <p:cNvPr id="196" name=""/>
          <p:cNvSpPr/>
          <p:nvPr/>
        </p:nvSpPr>
        <p:spPr>
          <a:xfrm>
            <a:off x="660400" y="3860800"/>
            <a:ext cx="10871200" cy="482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 4 题（25 分）下跌中下影线变长、大阳线变多、收盘远离低点：说明什么？接下来最可能进入什么状态？</a:t>
            </a:r>
            <a:endParaRPr/>
          </a:p>
        </p:txBody>
      </p:sp>
      <p:sp>
        <p:nvSpPr>
          <p:cNvPr id="197" name=""/>
          <p:cNvSpPr/>
          <p:nvPr/>
        </p:nvSpPr>
        <p:spPr>
          <a:xfrm>
            <a:off x="660400" y="4826000"/>
            <a:ext cx="10871200" cy="406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</a:rPr>
              <a:t>答题三段式：先说结论 → 引作者的定义或机制 → 落到「现在能做什么、不能做什么」</a:t>
            </a:r>
            <a:endParaRPr/>
          </a:p>
        </p:txBody>
      </p:sp>
      <p:sp>
        <p:nvSpPr>
          <p:cNvPr id="198" name=""/>
          <p:cNvSpPr/>
          <p:nvPr/>
        </p:nvSpPr>
        <p:spPr>
          <a:xfrm>
            <a:off x="457200" y="5588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8B97A8"/>
                </a:solidFill>
                <a:latin typeface="Microsoft YaHei"/>
                <a:ea typeface="Microsoft YaHei"/>
              </a:rPr>
              <a:t>作答记录：第 1 题独立满分；第 2-4 题示范作答见仓库 EX-L06-graded-demo.html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2026-10-14T04:16:30Z</dcterms:created>
  <dcterms:modified xsi:type="dcterms:W3CDTF">2026-10-14T04:16:30Z</dcterms:modified>
</cp:coreProperties>
</file>